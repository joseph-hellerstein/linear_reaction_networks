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68" r:id="rId4"/>
    <p:sldId id="269" r:id="rId5"/>
    <p:sldId id="270" r:id="rId6"/>
    <p:sldId id="273" r:id="rId7"/>
    <p:sldId id="274" r:id="rId8"/>
    <p:sldId id="275" r:id="rId9"/>
    <p:sldId id="271" r:id="rId10"/>
    <p:sldId id="276" r:id="rId11"/>
    <p:sldId id="277" r:id="rId12"/>
    <p:sldId id="278" r:id="rId13"/>
    <p:sldId id="279" r:id="rId14"/>
    <p:sldId id="284" r:id="rId15"/>
    <p:sldId id="280" r:id="rId16"/>
    <p:sldId id="259" r:id="rId17"/>
    <p:sldId id="281" r:id="rId18"/>
    <p:sldId id="283" r:id="rId19"/>
    <p:sldId id="267" r:id="rId20"/>
    <p:sldId id="260" r:id="rId21"/>
    <p:sldId id="266" r:id="rId22"/>
    <p:sldId id="265" r:id="rId23"/>
    <p:sldId id="263" r:id="rId24"/>
  </p:sldIdLst>
  <p:sldSz cx="9144000" cy="6858000" type="screen4x3"/>
  <p:notesSz cx="6858000" cy="9144000"/>
  <p:embeddedFontLst>
    <p:embeddedFont>
      <p:font typeface="Cambria Math" panose="02040503050406030204" pitchFamily="18" charset="0"/>
      <p:regular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3" roundtripDataSignature="AMtx7mgCuaoS/ao6GLJNkk1J/HieLCYVz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21"/>
    <p:restoredTop sz="94694"/>
  </p:normalViewPr>
  <p:slideViewPr>
    <p:cSldViewPr snapToGrid="0">
      <p:cViewPr>
        <p:scale>
          <a:sx n="110" d="100"/>
          <a:sy n="110" d="100"/>
        </p:scale>
        <p:origin x="2400" y="41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43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Diverse students. Some with bio-backgrounds; some without. Some with CS background; some with very limited. Two separate courses combined because of a substantial shared curriculum.</a:t>
            </a:r>
            <a:endParaRPr/>
          </a:p>
        </p:txBody>
      </p:sp>
      <p:sp>
        <p:nvSpPr>
          <p:cNvPr id="94" name="Google Shape;9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5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3B185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35"/>
          <p:cNvSpPr/>
          <p:nvPr/>
        </p:nvSpPr>
        <p:spPr>
          <a:xfrm>
            <a:off x="228600" y="254000"/>
            <a:ext cx="8686800" cy="6418263"/>
          </a:xfrm>
          <a:prstGeom prst="rect">
            <a:avLst/>
          </a:prstGeom>
          <a:noFill/>
          <a:ln w="222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35"/>
          <p:cNvSpPr/>
          <p:nvPr/>
        </p:nvSpPr>
        <p:spPr>
          <a:xfrm>
            <a:off x="447675" y="152400"/>
            <a:ext cx="3314700" cy="215900"/>
          </a:xfrm>
          <a:prstGeom prst="rect">
            <a:avLst/>
          </a:prstGeom>
          <a:solidFill>
            <a:srgbClr val="3B185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" name="Google Shape;22;p35" descr="UW.Wordmark_ctr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98475" y="152400"/>
            <a:ext cx="3213100" cy="2159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5"/>
          <p:cNvSpPr/>
          <p:nvPr/>
        </p:nvSpPr>
        <p:spPr>
          <a:xfrm rot="10800000" flipH="1">
            <a:off x="8167688" y="6348413"/>
            <a:ext cx="585787" cy="396875"/>
          </a:xfrm>
          <a:prstGeom prst="trapezoid">
            <a:avLst>
              <a:gd name="adj" fmla="val 25000"/>
            </a:avLst>
          </a:prstGeom>
          <a:solidFill>
            <a:srgbClr val="3B185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" name="Google Shape;24;p35" descr="UW_W-Logo_RGB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69275" y="6348413"/>
            <a:ext cx="593725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35"/>
          <p:cNvSpPr txBox="1">
            <a:spLocks noGrp="1"/>
          </p:cNvSpPr>
          <p:nvPr>
            <p:ph type="ctrTitle"/>
          </p:nvPr>
        </p:nvSpPr>
        <p:spPr>
          <a:xfrm>
            <a:off x="685800" y="1752600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6" name="Google Shape;26;p35"/>
          <p:cNvSpPr txBox="1">
            <a:spLocks noGrp="1"/>
          </p:cNvSpPr>
          <p:nvPr>
            <p:ph type="subTitle" idx="1"/>
          </p:nvPr>
        </p:nvSpPr>
        <p:spPr>
          <a:xfrm>
            <a:off x="1371600" y="3508375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7" name="Google Shape;27;p35"/>
          <p:cNvSpPr txBox="1">
            <a:spLocks noGrp="1"/>
          </p:cNvSpPr>
          <p:nvPr>
            <p:ph type="dt" idx="10"/>
          </p:nvPr>
        </p:nvSpPr>
        <p:spPr>
          <a:xfrm>
            <a:off x="447675" y="59436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" name="Google Shape;28;p35"/>
          <p:cNvSpPr txBox="1">
            <a:spLocks noGrp="1"/>
          </p:cNvSpPr>
          <p:nvPr>
            <p:ph type="ftr" idx="11"/>
          </p:nvPr>
        </p:nvSpPr>
        <p:spPr>
          <a:xfrm>
            <a:off x="3114675" y="594360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5"/>
          <p:cNvSpPr txBox="1">
            <a:spLocks noGrp="1"/>
          </p:cNvSpPr>
          <p:nvPr>
            <p:ph type="sldNum" idx="12"/>
          </p:nvPr>
        </p:nvSpPr>
        <p:spPr>
          <a:xfrm>
            <a:off x="7534275" y="5943600"/>
            <a:ext cx="4667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6"/>
          <p:cNvSpPr/>
          <p:nvPr/>
        </p:nvSpPr>
        <p:spPr>
          <a:xfrm>
            <a:off x="447675" y="152400"/>
            <a:ext cx="3314700" cy="21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" name="Google Shape;32;p36" descr="UW.Wordmark_ctr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98475" y="152400"/>
            <a:ext cx="3213100" cy="2159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" name="Google Shape;33;p36"/>
          <p:cNvGrpSpPr/>
          <p:nvPr/>
        </p:nvGrpSpPr>
        <p:grpSpPr>
          <a:xfrm>
            <a:off x="8167688" y="6348413"/>
            <a:ext cx="595312" cy="400050"/>
            <a:chOff x="8045450" y="6222997"/>
            <a:chExt cx="745067" cy="500464"/>
          </a:xfrm>
        </p:grpSpPr>
        <p:sp>
          <p:nvSpPr>
            <p:cNvPr id="34" name="Google Shape;34;p36"/>
            <p:cNvSpPr/>
            <p:nvPr/>
          </p:nvSpPr>
          <p:spPr>
            <a:xfrm rot="10800000" flipH="1">
              <a:off x="8045450" y="6222997"/>
              <a:ext cx="733146" cy="494505"/>
            </a:xfrm>
            <a:prstGeom prst="trapezoid">
              <a:avLst>
                <a:gd name="adj" fmla="val 25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5" name="Google Shape;35;p36" descr="UW_W-Logo_RGB.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8047567" y="6223002"/>
              <a:ext cx="742950" cy="50045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6" name="Google Shape;36;p36"/>
          <p:cNvSpPr txBox="1">
            <a:spLocks noGrp="1"/>
          </p:cNvSpPr>
          <p:nvPr>
            <p:ph type="title"/>
          </p:nvPr>
        </p:nvSpPr>
        <p:spPr>
          <a:xfrm>
            <a:off x="457200" y="38100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7" name="Google Shape;37;p36"/>
          <p:cNvSpPr txBox="1">
            <a:spLocks noGrp="1"/>
          </p:cNvSpPr>
          <p:nvPr>
            <p:ph type="body" idx="1"/>
          </p:nvPr>
        </p:nvSpPr>
        <p:spPr>
          <a:xfrm>
            <a:off x="457200" y="1371599"/>
            <a:ext cx="8229600" cy="4572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" name="Google Shape;38;p36"/>
          <p:cNvSpPr txBox="1">
            <a:spLocks noGrp="1"/>
          </p:cNvSpPr>
          <p:nvPr>
            <p:ph type="ftr" idx="11"/>
          </p:nvPr>
        </p:nvSpPr>
        <p:spPr>
          <a:xfrm>
            <a:off x="3114675" y="62642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36"/>
          <p:cNvSpPr txBox="1">
            <a:spLocks noGrp="1"/>
          </p:cNvSpPr>
          <p:nvPr>
            <p:ph type="sldNum" idx="12"/>
          </p:nvPr>
        </p:nvSpPr>
        <p:spPr>
          <a:xfrm>
            <a:off x="7543801" y="6248400"/>
            <a:ext cx="533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9"/>
          <p:cNvSpPr txBox="1">
            <a:spLocks noGrp="1"/>
          </p:cNvSpPr>
          <p:nvPr>
            <p:ph type="title"/>
          </p:nvPr>
        </p:nvSpPr>
        <p:spPr>
          <a:xfrm>
            <a:off x="457200" y="38100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9" name="Google Shape;49;p39"/>
          <p:cNvSpPr txBox="1">
            <a:spLocks noGrp="1"/>
          </p:cNvSpPr>
          <p:nvPr>
            <p:ph type="ftr" idx="11"/>
          </p:nvPr>
        </p:nvSpPr>
        <p:spPr>
          <a:xfrm>
            <a:off x="3114675" y="62642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39"/>
          <p:cNvSpPr txBox="1">
            <a:spLocks noGrp="1"/>
          </p:cNvSpPr>
          <p:nvPr>
            <p:ph type="sldNum" idx="12"/>
          </p:nvPr>
        </p:nvSpPr>
        <p:spPr>
          <a:xfrm>
            <a:off x="7655266" y="6264275"/>
            <a:ext cx="49813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1"/>
          <p:cNvSpPr txBox="1">
            <a:spLocks noGrp="1"/>
          </p:cNvSpPr>
          <p:nvPr>
            <p:ph type="title"/>
          </p:nvPr>
        </p:nvSpPr>
        <p:spPr>
          <a:xfrm>
            <a:off x="457200" y="30480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9" name="Google Shape;59;p41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0" name="Google Shape;60;p41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1" name="Google Shape;61;p41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2" name="Google Shape;62;p41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41"/>
          <p:cNvSpPr txBox="1">
            <a:spLocks noGrp="1"/>
          </p:cNvSpPr>
          <p:nvPr>
            <p:ph type="ftr" idx="11"/>
          </p:nvPr>
        </p:nvSpPr>
        <p:spPr>
          <a:xfrm>
            <a:off x="3114675" y="62642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41"/>
          <p:cNvSpPr txBox="1">
            <a:spLocks noGrp="1"/>
          </p:cNvSpPr>
          <p:nvPr>
            <p:ph type="sldNum" idx="12"/>
          </p:nvPr>
        </p:nvSpPr>
        <p:spPr>
          <a:xfrm>
            <a:off x="6172200" y="6264275"/>
            <a:ext cx="1905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2"/>
          <p:cNvSpPr txBox="1">
            <a:spLocks noGrp="1"/>
          </p:cNvSpPr>
          <p:nvPr>
            <p:ph type="title"/>
          </p:nvPr>
        </p:nvSpPr>
        <p:spPr>
          <a:xfrm>
            <a:off x="457200" y="533400"/>
            <a:ext cx="3008313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7" name="Google Shape;67;p42"/>
          <p:cNvSpPr txBox="1">
            <a:spLocks noGrp="1"/>
          </p:cNvSpPr>
          <p:nvPr>
            <p:ph type="body" idx="1"/>
          </p:nvPr>
        </p:nvSpPr>
        <p:spPr>
          <a:xfrm>
            <a:off x="3575050" y="533401"/>
            <a:ext cx="5111750" cy="54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42"/>
          <p:cNvSpPr txBox="1">
            <a:spLocks noGrp="1"/>
          </p:cNvSpPr>
          <p:nvPr>
            <p:ph type="body" idx="2"/>
          </p:nvPr>
        </p:nvSpPr>
        <p:spPr>
          <a:xfrm>
            <a:off x="457200" y="1676400"/>
            <a:ext cx="3008313" cy="4267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9" name="Google Shape;69;p42"/>
          <p:cNvSpPr txBox="1">
            <a:spLocks noGrp="1"/>
          </p:cNvSpPr>
          <p:nvPr>
            <p:ph type="dt" idx="10"/>
          </p:nvPr>
        </p:nvSpPr>
        <p:spPr>
          <a:xfrm>
            <a:off x="447675" y="60960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0" name="Google Shape;70;p42"/>
          <p:cNvSpPr txBox="1">
            <a:spLocks noGrp="1"/>
          </p:cNvSpPr>
          <p:nvPr>
            <p:ph type="ftr" idx="11"/>
          </p:nvPr>
        </p:nvSpPr>
        <p:spPr>
          <a:xfrm>
            <a:off x="3114675" y="62642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42"/>
          <p:cNvSpPr txBox="1">
            <a:spLocks noGrp="1"/>
          </p:cNvSpPr>
          <p:nvPr>
            <p:ph type="sldNum" idx="12"/>
          </p:nvPr>
        </p:nvSpPr>
        <p:spPr>
          <a:xfrm>
            <a:off x="6543675" y="60960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3"/>
          <p:cNvSpPr txBox="1">
            <a:spLocks noGrp="1"/>
          </p:cNvSpPr>
          <p:nvPr>
            <p:ph type="title"/>
          </p:nvPr>
        </p:nvSpPr>
        <p:spPr>
          <a:xfrm>
            <a:off x="1792288" y="46482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4" name="Google Shape;74;p43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3959225"/>
          </a:xfrm>
          <a:prstGeom prst="rect">
            <a:avLst/>
          </a:prstGeom>
          <a:noFill/>
          <a:ln>
            <a:noFill/>
          </a:ln>
        </p:spPr>
      </p:sp>
      <p:sp>
        <p:nvSpPr>
          <p:cNvPr id="75" name="Google Shape;75;p43"/>
          <p:cNvSpPr txBox="1">
            <a:spLocks noGrp="1"/>
          </p:cNvSpPr>
          <p:nvPr>
            <p:ph type="body" idx="1"/>
          </p:nvPr>
        </p:nvSpPr>
        <p:spPr>
          <a:xfrm>
            <a:off x="1792288" y="5214938"/>
            <a:ext cx="5486400" cy="728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p43"/>
          <p:cNvSpPr txBox="1">
            <a:spLocks noGrp="1"/>
          </p:cNvSpPr>
          <p:nvPr>
            <p:ph type="dt" idx="10"/>
          </p:nvPr>
        </p:nvSpPr>
        <p:spPr>
          <a:xfrm>
            <a:off x="447675" y="60960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7" name="Google Shape;77;p43"/>
          <p:cNvSpPr txBox="1">
            <a:spLocks noGrp="1"/>
          </p:cNvSpPr>
          <p:nvPr>
            <p:ph type="ftr" idx="11"/>
          </p:nvPr>
        </p:nvSpPr>
        <p:spPr>
          <a:xfrm>
            <a:off x="3114675" y="62642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43"/>
          <p:cNvSpPr txBox="1">
            <a:spLocks noGrp="1"/>
          </p:cNvSpPr>
          <p:nvPr>
            <p:ph type="sldNum" idx="12"/>
          </p:nvPr>
        </p:nvSpPr>
        <p:spPr>
          <a:xfrm>
            <a:off x="6543675" y="60960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4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Google Shape;81;p44"/>
          <p:cNvSpPr txBox="1">
            <a:spLocks noGrp="1"/>
          </p:cNvSpPr>
          <p:nvPr>
            <p:ph type="body" idx="1"/>
          </p:nvPr>
        </p:nvSpPr>
        <p:spPr>
          <a:xfrm rot="5400000">
            <a:off x="2286000" y="-457200"/>
            <a:ext cx="4572000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44"/>
          <p:cNvSpPr txBox="1">
            <a:spLocks noGrp="1"/>
          </p:cNvSpPr>
          <p:nvPr>
            <p:ph type="dt" idx="10"/>
          </p:nvPr>
        </p:nvSpPr>
        <p:spPr>
          <a:xfrm>
            <a:off x="447675" y="60960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3" name="Google Shape;83;p44"/>
          <p:cNvSpPr txBox="1">
            <a:spLocks noGrp="1"/>
          </p:cNvSpPr>
          <p:nvPr>
            <p:ph type="ftr" idx="11"/>
          </p:nvPr>
        </p:nvSpPr>
        <p:spPr>
          <a:xfrm>
            <a:off x="3114675" y="62642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44"/>
          <p:cNvSpPr txBox="1">
            <a:spLocks noGrp="1"/>
          </p:cNvSpPr>
          <p:nvPr>
            <p:ph type="sldNum" idx="12"/>
          </p:nvPr>
        </p:nvSpPr>
        <p:spPr>
          <a:xfrm>
            <a:off x="6543675" y="60960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5"/>
          <p:cNvSpPr txBox="1">
            <a:spLocks noGrp="1"/>
          </p:cNvSpPr>
          <p:nvPr>
            <p:ph type="title"/>
          </p:nvPr>
        </p:nvSpPr>
        <p:spPr>
          <a:xfrm rot="5400000">
            <a:off x="4953000" y="2209801"/>
            <a:ext cx="54102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7" name="Google Shape;87;p45"/>
          <p:cNvSpPr txBox="1">
            <a:spLocks noGrp="1"/>
          </p:cNvSpPr>
          <p:nvPr>
            <p:ph type="body" idx="1"/>
          </p:nvPr>
        </p:nvSpPr>
        <p:spPr>
          <a:xfrm rot="5400000">
            <a:off x="762000" y="228601"/>
            <a:ext cx="5410201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8" name="Google Shape;88;p45"/>
          <p:cNvSpPr txBox="1">
            <a:spLocks noGrp="1"/>
          </p:cNvSpPr>
          <p:nvPr>
            <p:ph type="dt" idx="10"/>
          </p:nvPr>
        </p:nvSpPr>
        <p:spPr>
          <a:xfrm>
            <a:off x="447675" y="60960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9" name="Google Shape;89;p45"/>
          <p:cNvSpPr txBox="1">
            <a:spLocks noGrp="1"/>
          </p:cNvSpPr>
          <p:nvPr>
            <p:ph type="ftr" idx="11"/>
          </p:nvPr>
        </p:nvSpPr>
        <p:spPr>
          <a:xfrm>
            <a:off x="3114675" y="62642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45"/>
          <p:cNvSpPr txBox="1">
            <a:spLocks noGrp="1"/>
          </p:cNvSpPr>
          <p:nvPr>
            <p:ph type="sldNum" idx="12"/>
          </p:nvPr>
        </p:nvSpPr>
        <p:spPr>
          <a:xfrm>
            <a:off x="6543675" y="60960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1F95B4-D750-BC8A-4910-A176B0F21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7BF0F-22D5-0B4D-84CF-17DF525CE877}" type="datetimeFigureOut">
              <a:rPr lang="en-US" smtClean="0"/>
              <a:t>3/11/26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077086-9E2A-3365-BF5B-902576632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D380C5-C05E-DD0C-E2B0-936DD5C18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BFEC3-7D03-4247-B362-5FB0CBAF2F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962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4"/>
          <p:cNvSpPr txBox="1">
            <a:spLocks noGrp="1"/>
          </p:cNvSpPr>
          <p:nvPr>
            <p:ph type="ftr" idx="11"/>
          </p:nvPr>
        </p:nvSpPr>
        <p:spPr>
          <a:xfrm>
            <a:off x="3114675" y="62642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grpSp>
        <p:nvGrpSpPr>
          <p:cNvPr id="11" name="Google Shape;11;p34"/>
          <p:cNvGrpSpPr/>
          <p:nvPr/>
        </p:nvGrpSpPr>
        <p:grpSpPr>
          <a:xfrm>
            <a:off x="8167688" y="6348413"/>
            <a:ext cx="595312" cy="400050"/>
            <a:chOff x="8045450" y="6222997"/>
            <a:chExt cx="745067" cy="500464"/>
          </a:xfrm>
        </p:grpSpPr>
        <p:sp>
          <p:nvSpPr>
            <p:cNvPr id="12" name="Google Shape;12;p34"/>
            <p:cNvSpPr/>
            <p:nvPr/>
          </p:nvSpPr>
          <p:spPr>
            <a:xfrm rot="10800000" flipH="1">
              <a:off x="8045450" y="6222997"/>
              <a:ext cx="733146" cy="494505"/>
            </a:xfrm>
            <a:prstGeom prst="trapezoid">
              <a:avLst>
                <a:gd name="adj" fmla="val 25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3" name="Google Shape;13;p34" descr="UW_W-Logo_RGB.png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8047567" y="6223002"/>
              <a:ext cx="742950" cy="50045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" name="Google Shape;14;p34"/>
          <p:cNvSpPr/>
          <p:nvPr/>
        </p:nvSpPr>
        <p:spPr>
          <a:xfrm>
            <a:off x="228600" y="254000"/>
            <a:ext cx="8686800" cy="6418263"/>
          </a:xfrm>
          <a:prstGeom prst="rect">
            <a:avLst/>
          </a:prstGeom>
          <a:noFill/>
          <a:ln w="22225" cap="flat" cmpd="sng">
            <a:solidFill>
              <a:srgbClr val="3B18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" name="Google Shape;15;p34" descr="UW.Wordmark_ctr.jp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498475" y="152400"/>
            <a:ext cx="3213100" cy="21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34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296863" y="5962650"/>
            <a:ext cx="998537" cy="81915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4"/>
          <p:cNvSpPr txBox="1">
            <a:spLocks noGrp="1"/>
          </p:cNvSpPr>
          <p:nvPr>
            <p:ph type="sldNum" idx="12"/>
          </p:nvPr>
        </p:nvSpPr>
        <p:spPr>
          <a:xfrm>
            <a:off x="6543675" y="6248400"/>
            <a:ext cx="13811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3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7.png"/><Relationship Id="rId7" Type="http://schemas.openxmlformats.org/officeDocument/2006/relationships/image" Target="../media/image42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7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"/>
          <p:cNvSpPr txBox="1">
            <a:spLocks noGrp="1"/>
          </p:cNvSpPr>
          <p:nvPr>
            <p:ph type="ctrTitle"/>
          </p:nvPr>
        </p:nvSpPr>
        <p:spPr>
          <a:xfrm>
            <a:off x="381000" y="517216"/>
            <a:ext cx="8458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/>
              <a:t>Analysis of Subsystem Interactions in </a:t>
            </a:r>
            <a:br>
              <a:rPr lang="en-US" sz="3200" b="1" dirty="0"/>
            </a:br>
            <a:r>
              <a:rPr lang="en-US" sz="3200" b="1" dirty="0"/>
              <a:t>Chemical Reaction Networks</a:t>
            </a:r>
            <a:br>
              <a:rPr lang="en-US" b="1" dirty="0"/>
            </a:br>
            <a:br>
              <a:rPr lang="en-US" b="1" dirty="0"/>
            </a:br>
            <a:endParaRPr i="1" dirty="0"/>
          </a:p>
        </p:txBody>
      </p:sp>
      <p:sp>
        <p:nvSpPr>
          <p:cNvPr id="97" name="Google Shape;97;p1"/>
          <p:cNvSpPr txBox="1">
            <a:spLocks noGrp="1"/>
          </p:cNvSpPr>
          <p:nvPr>
            <p:ph type="subTitle" idx="1"/>
          </p:nvPr>
        </p:nvSpPr>
        <p:spPr>
          <a:xfrm>
            <a:off x="381000" y="3611071"/>
            <a:ext cx="8382000" cy="2239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None/>
            </a:pPr>
            <a:r>
              <a:rPr lang="en-US" sz="2800" dirty="0"/>
              <a:t>Joe Hellerstein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None/>
            </a:pPr>
            <a:r>
              <a:rPr lang="en-US" sz="2800"/>
              <a:t>March 12, 2026</a:t>
            </a:r>
            <a:endParaRPr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"/>
          <p:cNvSpPr txBox="1">
            <a:spLocks noGrp="1"/>
          </p:cNvSpPr>
          <p:nvPr>
            <p:ph type="title"/>
          </p:nvPr>
        </p:nvSpPr>
        <p:spPr>
          <a:xfrm>
            <a:off x="457200" y="38100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Objectives</a:t>
            </a:r>
            <a:endParaRPr dirty="0"/>
          </a:p>
        </p:txBody>
      </p:sp>
      <p:sp>
        <p:nvSpPr>
          <p:cNvPr id="103" name="Google Shape;103;p2"/>
          <p:cNvSpPr txBox="1">
            <a:spLocks noGrp="1"/>
          </p:cNvSpPr>
          <p:nvPr>
            <p:ph type="body" idx="1"/>
          </p:nvPr>
        </p:nvSpPr>
        <p:spPr>
          <a:xfrm>
            <a:off x="457200" y="1371599"/>
            <a:ext cx="8229600" cy="4572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dirty="0"/>
              <a:t>Understand the effect of combining chemical reaction networks (CRNs)</a:t>
            </a:r>
          </a:p>
          <a:p>
            <a:pPr marL="800100" lvl="1" indent="-342900">
              <a:spcBef>
                <a:spcPts val="0"/>
              </a:spcBef>
              <a:buSzPts val="3200"/>
              <a:buChar char="•"/>
            </a:pPr>
            <a:r>
              <a:rPr lang="en-US" dirty="0"/>
              <a:t>Stability</a:t>
            </a:r>
          </a:p>
          <a:p>
            <a:pPr marL="800100" lvl="1" indent="-342900">
              <a:spcBef>
                <a:spcPts val="0"/>
              </a:spcBef>
              <a:buSzPts val="3200"/>
              <a:buChar char="•"/>
            </a:pPr>
            <a:r>
              <a:rPr lang="en-US" dirty="0"/>
              <a:t>Step response (DC Gain)</a:t>
            </a:r>
          </a:p>
        </p:txBody>
      </p:sp>
      <p:sp>
        <p:nvSpPr>
          <p:cNvPr id="104" name="Google Shape;104;p2"/>
          <p:cNvSpPr txBox="1">
            <a:spLocks noGrp="1"/>
          </p:cNvSpPr>
          <p:nvPr>
            <p:ph type="sldNum" idx="12"/>
          </p:nvPr>
        </p:nvSpPr>
        <p:spPr>
          <a:xfrm>
            <a:off x="7620000" y="6248400"/>
            <a:ext cx="30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5C8BA-0023-397F-67B5-610228AE8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575445"/>
          </a:xfrm>
        </p:spPr>
        <p:txBody>
          <a:bodyPr/>
          <a:lstStyle/>
          <a:p>
            <a:r>
              <a:rPr lang="en-US" sz="3200" dirty="0"/>
              <a:t>Subsystems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5C0336-C468-09F3-8D24-1724DC91298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A950E9-A389-62FD-3A27-165D27DEBB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800" y="2329905"/>
            <a:ext cx="3962400" cy="323368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9DA8CBA-2213-2662-245C-CE41668B713F}"/>
              </a:ext>
            </a:extLst>
          </p:cNvPr>
          <p:cNvSpPr txBox="1"/>
          <p:nvPr/>
        </p:nvSpPr>
        <p:spPr>
          <a:xfrm>
            <a:off x="767256" y="924917"/>
            <a:ext cx="810347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A subsystem of a chemical reaction network (CRN) is a subset of the species and reactions of the CRN.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The subset of species must include all participants of the subset of reactions.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Rate laws are a linear combination of species concentrations (not limited to reactants.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75B8186-064D-7F30-5EA2-E11B786A2D0E}"/>
              </a:ext>
            </a:extLst>
          </p:cNvPr>
          <p:cNvGrpSpPr/>
          <p:nvPr/>
        </p:nvGrpSpPr>
        <p:grpSpPr>
          <a:xfrm>
            <a:off x="530772" y="5575732"/>
            <a:ext cx="8082456" cy="763992"/>
            <a:chOff x="457200" y="5460119"/>
            <a:chExt cx="8082456" cy="763992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CA67833D-B031-98A7-5A59-D20C2EDF5EB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67256" y="5484409"/>
              <a:ext cx="7772400" cy="739702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3778DE5-EA41-2B5D-175B-58E71BDDFF79}"/>
                </a:ext>
              </a:extLst>
            </p:cNvPr>
            <p:cNvSpPr/>
            <p:nvPr/>
          </p:nvSpPr>
          <p:spPr>
            <a:xfrm>
              <a:off x="457200" y="5460119"/>
              <a:ext cx="2632841" cy="32582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603777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605BC-3EFE-F7FA-5685-8E5258301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B9B6F-AF64-8B1D-CB5F-00F5A5EDA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Jacobian of a Subsystem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7E53BC-3A30-02C1-5E87-B3ACB626BE6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749D8C5-DCF6-BE1C-44D0-CE39BD77C258}"/>
                  </a:ext>
                </a:extLst>
              </p:cNvPr>
              <p:cNvSpPr txBox="1"/>
              <p:nvPr/>
            </p:nvSpPr>
            <p:spPr>
              <a:xfrm>
                <a:off x="767256" y="1072057"/>
                <a:ext cx="810347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800" dirty="0"/>
                  <a:t>The dynamics, 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̇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1800" dirty="0"/>
                  <a:t> of a subsystem are described by its Jacobian, 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US" sz="1800" dirty="0"/>
                  <a:t>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749D8C5-DCF6-BE1C-44D0-CE39BD77C2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256" y="1072057"/>
                <a:ext cx="8103476" cy="369332"/>
              </a:xfrm>
              <a:prstGeom prst="rect">
                <a:avLst/>
              </a:prstGeom>
              <a:blipFill>
                <a:blip r:embed="rId2"/>
                <a:stretch>
                  <a:fillRect l="-469" t="-6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90B6997D-20FD-7DB8-D26E-A0EE1781399B}"/>
              </a:ext>
            </a:extLst>
          </p:cNvPr>
          <p:cNvGrpSpPr/>
          <p:nvPr/>
        </p:nvGrpSpPr>
        <p:grpSpPr>
          <a:xfrm>
            <a:off x="1145628" y="1983827"/>
            <a:ext cx="6133224" cy="2840419"/>
            <a:chOff x="1145628" y="1910257"/>
            <a:chExt cx="6133224" cy="2840419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D15EDEB5-9475-5AB1-23C7-FF33BB84E12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60652" y="1910257"/>
              <a:ext cx="5918200" cy="2247900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87A0107-64B7-0D9E-4128-E31FCFA775D3}"/>
                </a:ext>
              </a:extLst>
            </p:cNvPr>
            <p:cNvSpPr/>
            <p:nvPr/>
          </p:nvSpPr>
          <p:spPr>
            <a:xfrm>
              <a:off x="1145628" y="3794234"/>
              <a:ext cx="893379" cy="95644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99798FE-BF3D-5FB9-B12C-6629CADC6BFC}"/>
                </a:ext>
              </a:extLst>
            </p:cNvPr>
            <p:cNvSpPr/>
            <p:nvPr/>
          </p:nvSpPr>
          <p:spPr>
            <a:xfrm>
              <a:off x="3179380" y="3976196"/>
              <a:ext cx="893379" cy="438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873500C-FBDF-81CF-1102-D2013E856338}"/>
                </a:ext>
              </a:extLst>
            </p:cNvPr>
            <p:cNvSpPr/>
            <p:nvPr/>
          </p:nvSpPr>
          <p:spPr>
            <a:xfrm>
              <a:off x="3765550" y="2732691"/>
              <a:ext cx="893379" cy="14625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EA65039-B674-9E2D-865E-47EAF0D8CEB8}"/>
                </a:ext>
              </a:extLst>
            </p:cNvPr>
            <p:cNvSpPr/>
            <p:nvPr/>
          </p:nvSpPr>
          <p:spPr>
            <a:xfrm>
              <a:off x="1992916" y="3164445"/>
              <a:ext cx="893379" cy="14625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DA51CD6-9DCC-335B-E3DD-4335270B6A10}"/>
                </a:ext>
              </a:extLst>
            </p:cNvPr>
            <p:cNvSpPr/>
            <p:nvPr/>
          </p:nvSpPr>
          <p:spPr>
            <a:xfrm>
              <a:off x="1592317" y="2594076"/>
              <a:ext cx="893379" cy="14625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5349E0D-8AC1-F13A-08B2-7E1331798302}"/>
                </a:ext>
              </a:extLst>
            </p:cNvPr>
            <p:cNvSpPr/>
            <p:nvPr/>
          </p:nvSpPr>
          <p:spPr>
            <a:xfrm>
              <a:off x="3988894" y="2263822"/>
              <a:ext cx="893379" cy="1220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657E190-749F-8684-7993-F1FB0FC917D1}"/>
                </a:ext>
              </a:extLst>
            </p:cNvPr>
            <p:cNvSpPr/>
            <p:nvPr/>
          </p:nvSpPr>
          <p:spPr>
            <a:xfrm>
              <a:off x="1985854" y="2337888"/>
              <a:ext cx="893379" cy="35768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11AB4A4-EE4F-FE27-23D1-ED3F82A6DB2A}"/>
                </a:ext>
              </a:extLst>
            </p:cNvPr>
            <p:cNvSpPr/>
            <p:nvPr/>
          </p:nvSpPr>
          <p:spPr>
            <a:xfrm>
              <a:off x="1992917" y="1921572"/>
              <a:ext cx="130174" cy="35768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5F9EE9FE-A7BC-5F5A-155B-0E650B37E3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151" y="4209823"/>
            <a:ext cx="8540641" cy="134389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3588695F-ED43-A627-DBD6-3C7DC4613220}"/>
              </a:ext>
            </a:extLst>
          </p:cNvPr>
          <p:cNvSpPr txBox="1"/>
          <p:nvPr/>
        </p:nvSpPr>
        <p:spPr>
          <a:xfrm>
            <a:off x="1321677" y="5645844"/>
            <a:ext cx="69946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Jacobian of the combined subsystem is the sum of the Jacobians of the individual subsystems if the individual subsystems have no reaction in common.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3BFBAD8-86C3-4DB9-6D16-456F4090DA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3388" y="1514473"/>
            <a:ext cx="1397000" cy="4064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B97AFC8-5890-A82D-BA83-1A0ABDEAE362}"/>
                  </a:ext>
                </a:extLst>
              </p:cNvPr>
              <p:cNvSpPr txBox="1"/>
              <p:nvPr/>
            </p:nvSpPr>
            <p:spPr>
              <a:xfrm>
                <a:off x="2071286" y="1502281"/>
                <a:ext cx="549541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600" b="1" i="1" smtClean="0"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en-US" sz="1600" dirty="0"/>
                  <a:t> is the vector of forced inputs (on for each state variable).</a:t>
                </a:r>
                <a:endParaRPr lang="en-US" sz="1600" b="1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B97AFC8-5890-A82D-BA83-1A0ABDEAE3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1286" y="1502281"/>
                <a:ext cx="5495415" cy="338554"/>
              </a:xfrm>
              <a:prstGeom prst="rect">
                <a:avLst/>
              </a:prstGeom>
              <a:blipFill>
                <a:blip r:embed="rId6"/>
                <a:stretch>
                  <a:fillRect t="-3704" b="-259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445644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0051F-1DB8-83C3-2238-064F4E02F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Stability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3CFA24-5D43-4A9D-A9A6-D63DE3CBA9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Stable if no eigenvalue is positive</a:t>
            </a:r>
          </a:p>
          <a:p>
            <a:r>
              <a:rPr lang="en-US" dirty="0"/>
              <a:t>How do we assess if the combination of two subsystems is stable if we know the stability of the individual subsystems?</a:t>
            </a:r>
          </a:p>
          <a:p>
            <a:r>
              <a:rPr lang="en-US" dirty="0"/>
              <a:t>Approach 1: Combine subsystems and then calculate eigenvalues</a:t>
            </a:r>
          </a:p>
          <a:p>
            <a:pPr lvl="1"/>
            <a:r>
              <a:rPr lang="en-US" dirty="0"/>
              <a:t>But this yields no insight into desirable combinations of subsystems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647B7F-D1D4-D507-9E2F-44451096B59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1999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35528811-81A3-985D-2F51-3F64DB580D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2273" y="3291143"/>
            <a:ext cx="3505200" cy="9906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87DAA84-6983-EF09-F90B-99AB57402C67}"/>
              </a:ext>
            </a:extLst>
          </p:cNvPr>
          <p:cNvSpPr txBox="1"/>
          <p:nvPr/>
        </p:nvSpPr>
        <p:spPr>
          <a:xfrm>
            <a:off x="609976" y="1832217"/>
            <a:ext cx="222274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-&gt; S1; 1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S1 -&gt; S2; S1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S2 -&gt; S1; 0.5*S2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S2 -&gt; ; 0.75*S2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A3A6B7B-0499-9FC1-D254-9AAED4BC07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4449" y="1832218"/>
            <a:ext cx="1066809" cy="954106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6265F6B6-6A0F-70EB-0798-A78E6F2EC606}"/>
              </a:ext>
            </a:extLst>
          </p:cNvPr>
          <p:cNvSpPr txBox="1"/>
          <p:nvPr/>
        </p:nvSpPr>
        <p:spPr>
          <a:xfrm>
            <a:off x="7207552" y="1440566"/>
            <a:ext cx="12282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Eigenvalues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27661E5-CF9F-5A03-9166-A4B11FE74FD5}"/>
                  </a:ext>
                </a:extLst>
              </p:cNvPr>
              <p:cNvSpPr txBox="1"/>
              <p:nvPr/>
            </p:nvSpPr>
            <p:spPr>
              <a:xfrm>
                <a:off x="5082020" y="2086890"/>
                <a:ext cx="1502334" cy="4675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0.5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−1.25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8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27661E5-CF9F-5A03-9166-A4B11FE74F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2020" y="2086890"/>
                <a:ext cx="1502334" cy="467564"/>
              </a:xfrm>
              <a:prstGeom prst="rect">
                <a:avLst/>
              </a:prstGeom>
              <a:blipFill>
                <a:blip r:embed="rId4"/>
                <a:stretch>
                  <a:fillRect b="-18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Box 34">
            <a:extLst>
              <a:ext uri="{FF2B5EF4-FFF2-40B4-BE49-F238E27FC236}">
                <a16:creationId xmlns:a16="http://schemas.microsoft.com/office/drawing/2014/main" id="{E5B3B89E-557A-C145-EC00-0F1884BA1B86}"/>
              </a:ext>
            </a:extLst>
          </p:cNvPr>
          <p:cNvSpPr txBox="1"/>
          <p:nvPr/>
        </p:nvSpPr>
        <p:spPr>
          <a:xfrm>
            <a:off x="560304" y="5521822"/>
            <a:ext cx="10599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Prediction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9BEECFBD-0E82-1BCC-048F-1FC597D5294F}"/>
                  </a:ext>
                </a:extLst>
              </p:cNvPr>
              <p:cNvSpPr txBox="1"/>
              <p:nvPr/>
            </p:nvSpPr>
            <p:spPr>
              <a:xfrm>
                <a:off x="2933731" y="4715042"/>
                <a:ext cx="2180149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[−1.5, −0.5], [−2.25, −0.25]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9BEECFBD-0E82-1BCC-048F-1FC597D529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3731" y="4715042"/>
                <a:ext cx="2180149" cy="215444"/>
              </a:xfrm>
              <a:prstGeom prst="rect">
                <a:avLst/>
              </a:prstGeom>
              <a:blipFill>
                <a:blip r:embed="rId5"/>
                <a:stretch>
                  <a:fillRect l="-1734" r="-2312" b="-3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Box 37">
            <a:extLst>
              <a:ext uri="{FF2B5EF4-FFF2-40B4-BE49-F238E27FC236}">
                <a16:creationId xmlns:a16="http://schemas.microsoft.com/office/drawing/2014/main" id="{EF7BA7B4-3EEA-83E7-3E70-540E80D505E1}"/>
              </a:ext>
            </a:extLst>
          </p:cNvPr>
          <p:cNvSpPr txBox="1"/>
          <p:nvPr/>
        </p:nvSpPr>
        <p:spPr>
          <a:xfrm>
            <a:off x="7207552" y="2184925"/>
            <a:ext cx="10086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-0.4, -1.8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B97F95-2D76-3799-E7B4-965D67A1BD47}"/>
              </a:ext>
            </a:extLst>
          </p:cNvPr>
          <p:cNvSpPr txBox="1"/>
          <p:nvPr/>
        </p:nvSpPr>
        <p:spPr>
          <a:xfrm>
            <a:off x="5215842" y="1440566"/>
            <a:ext cx="9589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Jacobian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0CFCDA-D006-0268-8D39-B3219444CEB4}"/>
              </a:ext>
            </a:extLst>
          </p:cNvPr>
          <p:cNvSpPr txBox="1"/>
          <p:nvPr/>
        </p:nvSpPr>
        <p:spPr>
          <a:xfrm>
            <a:off x="3316893" y="1440566"/>
            <a:ext cx="12394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Time course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2CCFC7-00B8-0A0E-29AD-1F5D23AAAF8A}"/>
              </a:ext>
            </a:extLst>
          </p:cNvPr>
          <p:cNvSpPr txBox="1"/>
          <p:nvPr/>
        </p:nvSpPr>
        <p:spPr>
          <a:xfrm>
            <a:off x="618692" y="1440566"/>
            <a:ext cx="7008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Model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54F1129-70DC-5E8F-3FD6-E5BA1A84F655}"/>
              </a:ext>
            </a:extLst>
          </p:cNvPr>
          <p:cNvSpPr txBox="1"/>
          <p:nvPr/>
        </p:nvSpPr>
        <p:spPr>
          <a:xfrm>
            <a:off x="554572" y="3647873"/>
            <a:ext cx="16770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Gershgorin Disks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7E34001-FB6B-DBED-1EEB-DC040557A636}"/>
              </a:ext>
            </a:extLst>
          </p:cNvPr>
          <p:cNvSpPr txBox="1"/>
          <p:nvPr/>
        </p:nvSpPr>
        <p:spPr>
          <a:xfrm>
            <a:off x="5490220" y="3647873"/>
            <a:ext cx="34099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Eigenvalues must lie in at least one disk.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5622534-91E0-66C0-1CD4-93BDF9D81E62}"/>
              </a:ext>
            </a:extLst>
          </p:cNvPr>
          <p:cNvSpPr txBox="1"/>
          <p:nvPr/>
        </p:nvSpPr>
        <p:spPr>
          <a:xfrm>
            <a:off x="5368242" y="1592966"/>
            <a:ext cx="9589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Jacobian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8B73242-493E-6480-DB71-AF65FFC822A1}"/>
              </a:ext>
            </a:extLst>
          </p:cNvPr>
          <p:cNvSpPr txBox="1"/>
          <p:nvPr/>
        </p:nvSpPr>
        <p:spPr>
          <a:xfrm>
            <a:off x="554572" y="4686473"/>
            <a:ext cx="17171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Disks for example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8C55907-408D-C792-A62A-45099BFD9283}"/>
              </a:ext>
            </a:extLst>
          </p:cNvPr>
          <p:cNvSpPr txBox="1"/>
          <p:nvPr/>
        </p:nvSpPr>
        <p:spPr>
          <a:xfrm>
            <a:off x="2933731" y="5521822"/>
            <a:ext cx="6928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Stable</a:t>
            </a:r>
          </a:p>
        </p:txBody>
      </p:sp>
      <p:sp>
        <p:nvSpPr>
          <p:cNvPr id="40" name="Title 39">
            <a:extLst>
              <a:ext uri="{FF2B5EF4-FFF2-40B4-BE49-F238E27FC236}">
                <a16:creationId xmlns:a16="http://schemas.microsoft.com/office/drawing/2014/main" id="{0B0CCD1C-FD04-6244-C09D-DAC163600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Gershgorin Disks for Stability Analysis</a:t>
            </a:r>
          </a:p>
        </p:txBody>
      </p:sp>
    </p:spTree>
    <p:extLst>
      <p:ext uri="{BB962C8B-B14F-4D97-AF65-F5344CB8AC3E}">
        <p14:creationId xmlns:p14="http://schemas.microsoft.com/office/powerpoint/2010/main" val="19069430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4378C3-6409-2104-9CCA-460C36BB4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6BF0D866-7891-4432-9060-A073F60D459C}"/>
              </a:ext>
            </a:extLst>
          </p:cNvPr>
          <p:cNvGrpSpPr/>
          <p:nvPr/>
        </p:nvGrpSpPr>
        <p:grpSpPr>
          <a:xfrm>
            <a:off x="476449" y="2735440"/>
            <a:ext cx="6594403" cy="390978"/>
            <a:chOff x="613083" y="2514997"/>
            <a:chExt cx="6594403" cy="390978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D958C13D-1083-74DB-32A8-7436B789B54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71259" y="2514997"/>
              <a:ext cx="437162" cy="39097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B1287CC-59E6-1314-957E-5DD4F162E54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91169" y="2517979"/>
              <a:ext cx="508766" cy="385013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FBD5E702-C661-E3DC-1AC7-E6891AA9DED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100148" y="2514997"/>
              <a:ext cx="516650" cy="390978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EB79C867-5CD8-B8F3-8CFA-6287DBC84CE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690836" y="2514997"/>
              <a:ext cx="516650" cy="390978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B4D7DCC-509E-E33B-4BE9-CBECEAEF86A2}"/>
                </a:ext>
              </a:extLst>
            </p:cNvPr>
            <p:cNvSpPr txBox="1"/>
            <p:nvPr/>
          </p:nvSpPr>
          <p:spPr>
            <a:xfrm>
              <a:off x="613083" y="2595070"/>
              <a:ext cx="109036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/>
                <a:t>Time course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A2055738-1AE6-2ACA-ABF1-3AB673DF14B4}"/>
              </a:ext>
            </a:extLst>
          </p:cNvPr>
          <p:cNvGrpSpPr/>
          <p:nvPr/>
        </p:nvGrpSpPr>
        <p:grpSpPr>
          <a:xfrm>
            <a:off x="476449" y="3425758"/>
            <a:ext cx="6993325" cy="311752"/>
            <a:chOff x="613083" y="3082197"/>
            <a:chExt cx="6993325" cy="311752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AE9220D4-3FB1-B04C-BB28-5D56BA2453FC}"/>
                </a:ext>
              </a:extLst>
            </p:cNvPr>
            <p:cNvSpPr txBox="1"/>
            <p:nvPr/>
          </p:nvSpPr>
          <p:spPr>
            <a:xfrm>
              <a:off x="613083" y="3103140"/>
              <a:ext cx="85151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/>
                <a:t>Jacobian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8BD29271-108C-20DA-3498-E3105971FDDB}"/>
                    </a:ext>
                  </a:extLst>
                </p:cNvPr>
                <p:cNvSpPr txBox="1"/>
                <p:nvPr/>
              </p:nvSpPr>
              <p:spPr>
                <a:xfrm>
                  <a:off x="1771260" y="3082197"/>
                  <a:ext cx="1000530" cy="31175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sz="1200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0.5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−1.25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en-US" sz="1200" dirty="0"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8BD29271-108C-20DA-3498-E3105971FD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71260" y="3082197"/>
                  <a:ext cx="1000530" cy="311752"/>
                </a:xfrm>
                <a:prstGeom prst="rect">
                  <a:avLst/>
                </a:prstGeom>
                <a:blipFill>
                  <a:blip r:embed="rId6"/>
                  <a:stretch>
                    <a:fillRect b="-1153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3A5B1A11-97B3-99EB-EE04-129A3FFBE7D8}"/>
                    </a:ext>
                  </a:extLst>
                </p:cNvPr>
                <p:cNvSpPr txBox="1"/>
                <p:nvPr/>
              </p:nvSpPr>
              <p:spPr>
                <a:xfrm>
                  <a:off x="3391169" y="3084361"/>
                  <a:ext cx="567720" cy="30675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sz="1200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en-US" sz="1200" dirty="0"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3A5B1A11-97B3-99EB-EE04-129A3FFBE7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91169" y="3084361"/>
                  <a:ext cx="567720" cy="306751"/>
                </a:xfrm>
                <a:prstGeom prst="rect">
                  <a:avLst/>
                </a:prstGeom>
                <a:blipFill>
                  <a:blip r:embed="rId7"/>
                  <a:stretch>
                    <a:fillRect t="-3846" b="-1153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B7ADADC0-D02C-5669-123C-EAF8A9F235FE}"/>
                    </a:ext>
                  </a:extLst>
                </p:cNvPr>
                <p:cNvSpPr txBox="1"/>
                <p:nvPr/>
              </p:nvSpPr>
              <p:spPr>
                <a:xfrm>
                  <a:off x="5100148" y="3083832"/>
                  <a:ext cx="567720" cy="30796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sz="1200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en-US" sz="1200" dirty="0"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B7ADADC0-D02C-5669-123C-EAF8A9F235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00148" y="3083832"/>
                  <a:ext cx="567720" cy="307969"/>
                </a:xfrm>
                <a:prstGeom prst="rect">
                  <a:avLst/>
                </a:prstGeom>
                <a:blipFill>
                  <a:blip r:embed="rId8"/>
                  <a:stretch>
                    <a:fillRect t="-3846" b="-1153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F097BC34-162F-8D06-2AC9-360B4FB5847C}"/>
                    </a:ext>
                  </a:extLst>
                </p:cNvPr>
                <p:cNvSpPr txBox="1"/>
                <p:nvPr/>
              </p:nvSpPr>
              <p:spPr>
                <a:xfrm>
                  <a:off x="6690836" y="3083832"/>
                  <a:ext cx="915572" cy="30796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sz="1200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1.4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−0.6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en-US" sz="1200" dirty="0"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F097BC34-162F-8D06-2AC9-360B4FB584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90836" y="3083832"/>
                  <a:ext cx="915572" cy="307969"/>
                </a:xfrm>
                <a:prstGeom prst="rect">
                  <a:avLst/>
                </a:prstGeom>
                <a:blipFill>
                  <a:blip r:embed="rId9"/>
                  <a:stretch>
                    <a:fillRect t="-3846" b="-1153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8DC3F903-8C77-AB53-498E-2941A402DE80}"/>
              </a:ext>
            </a:extLst>
          </p:cNvPr>
          <p:cNvGrpSpPr/>
          <p:nvPr/>
        </p:nvGrpSpPr>
        <p:grpSpPr>
          <a:xfrm>
            <a:off x="476449" y="4553213"/>
            <a:ext cx="7666329" cy="276999"/>
            <a:chOff x="613083" y="3865423"/>
            <a:chExt cx="7666329" cy="276999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12714264-AEAA-D529-EACF-655522AF38FD}"/>
                </a:ext>
              </a:extLst>
            </p:cNvPr>
            <p:cNvSpPr txBox="1"/>
            <p:nvPr/>
          </p:nvSpPr>
          <p:spPr>
            <a:xfrm>
              <a:off x="613083" y="3865423"/>
              <a:ext cx="78418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/>
                <a:t>G. disks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617A4C1A-4B64-1C2A-C97D-DE960F294055}"/>
                    </a:ext>
                  </a:extLst>
                </p:cNvPr>
                <p:cNvSpPr txBox="1"/>
                <p:nvPr/>
              </p:nvSpPr>
              <p:spPr>
                <a:xfrm>
                  <a:off x="1771260" y="3900048"/>
                  <a:ext cx="1873911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[−1.5, −0.5], [−2.25, −0.25]</m:t>
                        </m:r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617A4C1A-4B64-1C2A-C97D-DE960F2940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71260" y="3900048"/>
                  <a:ext cx="1873911" cy="184666"/>
                </a:xfrm>
                <a:prstGeom prst="rect">
                  <a:avLst/>
                </a:prstGeom>
                <a:blipFill>
                  <a:blip r:embed="rId10"/>
                  <a:stretch>
                    <a:fillRect l="-2013" r="-2013" b="-4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F076018A-0804-3A6D-4D39-0E15A9A191E5}"/>
                    </a:ext>
                  </a:extLst>
                </p:cNvPr>
                <p:cNvSpPr txBox="1"/>
                <p:nvPr/>
              </p:nvSpPr>
              <p:spPr>
                <a:xfrm>
                  <a:off x="3391169" y="3900048"/>
                  <a:ext cx="748603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[2,4], [1, 3]</m:t>
                        </m:r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F076018A-0804-3A6D-4D39-0E15A9A191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91169" y="3900048"/>
                  <a:ext cx="748603" cy="184666"/>
                </a:xfrm>
                <a:prstGeom prst="rect">
                  <a:avLst/>
                </a:prstGeom>
                <a:blipFill>
                  <a:blip r:embed="rId11"/>
                  <a:stretch>
                    <a:fillRect l="-6667" r="-5000" b="-4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9C71AFA5-90A6-978E-DC3E-3DB71B48350A}"/>
                    </a:ext>
                  </a:extLst>
                </p:cNvPr>
                <p:cNvSpPr txBox="1"/>
                <p:nvPr/>
              </p:nvSpPr>
              <p:spPr>
                <a:xfrm>
                  <a:off x="5100148" y="3900048"/>
                  <a:ext cx="864019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[2,4], [−1, 1]</m:t>
                        </m:r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9C71AFA5-90A6-978E-DC3E-3DB71B4835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00148" y="3900048"/>
                  <a:ext cx="864019" cy="184666"/>
                </a:xfrm>
                <a:prstGeom prst="rect">
                  <a:avLst/>
                </a:prstGeom>
                <a:blipFill>
                  <a:blip r:embed="rId12"/>
                  <a:stretch>
                    <a:fillRect l="-5797" r="-5797" b="-4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34B72DF5-AAD2-9548-68ED-AFA1DFB1C147}"/>
                    </a:ext>
                  </a:extLst>
                </p:cNvPr>
                <p:cNvSpPr txBox="1"/>
                <p:nvPr/>
              </p:nvSpPr>
              <p:spPr>
                <a:xfrm>
                  <a:off x="6690836" y="3900048"/>
                  <a:ext cx="1588576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[−4.4,−1.6], [−0.4, 0.4]</m:t>
                        </m:r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34B72DF5-AAD2-9548-68ED-AFA1DFB1C1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90836" y="3900048"/>
                  <a:ext cx="1588576" cy="184666"/>
                </a:xfrm>
                <a:prstGeom prst="rect">
                  <a:avLst/>
                </a:prstGeom>
                <a:blipFill>
                  <a:blip r:embed="rId13"/>
                  <a:stretch>
                    <a:fillRect l="-3175" r="-2381" b="-4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7269698-D96C-2179-0E80-52F896B33854}"/>
              </a:ext>
            </a:extLst>
          </p:cNvPr>
          <p:cNvGrpSpPr/>
          <p:nvPr/>
        </p:nvGrpSpPr>
        <p:grpSpPr>
          <a:xfrm>
            <a:off x="476449" y="5106468"/>
            <a:ext cx="7151593" cy="287484"/>
            <a:chOff x="613083" y="5106468"/>
            <a:chExt cx="7151593" cy="287484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AB5D81CB-4D4C-8D38-3BA8-40012FCC99D7}"/>
                </a:ext>
              </a:extLst>
            </p:cNvPr>
            <p:cNvSpPr txBox="1"/>
            <p:nvPr/>
          </p:nvSpPr>
          <p:spPr>
            <a:xfrm>
              <a:off x="613083" y="5106468"/>
              <a:ext cx="93807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/>
                <a:t>Prediction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D5A0616A-0B75-FDFA-12FB-4E588B2168C9}"/>
                </a:ext>
              </a:extLst>
            </p:cNvPr>
            <p:cNvSpPr txBox="1"/>
            <p:nvPr/>
          </p:nvSpPr>
          <p:spPr>
            <a:xfrm>
              <a:off x="1716707" y="5116953"/>
              <a:ext cx="124104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u="sng" dirty="0"/>
                <a:t>definitely stable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7EC07F20-5472-EEB2-E2F3-58A78C06D86A}"/>
                </a:ext>
              </a:extLst>
            </p:cNvPr>
            <p:cNvSpPr txBox="1"/>
            <p:nvPr/>
          </p:nvSpPr>
          <p:spPr>
            <a:xfrm>
              <a:off x="3336616" y="5116953"/>
              <a:ext cx="141096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u="sng" dirty="0"/>
                <a:t>definitely unstable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32485640-D91D-3170-3552-6980753A1CEE}"/>
                </a:ext>
              </a:extLst>
            </p:cNvPr>
            <p:cNvSpPr txBox="1"/>
            <p:nvPr/>
          </p:nvSpPr>
          <p:spPr>
            <a:xfrm>
              <a:off x="5045596" y="5116953"/>
              <a:ext cx="111280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u="sng" dirty="0"/>
                <a:t>indeterminate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3B85F0D4-CEDF-34C3-ABA2-A96229F3EC70}"/>
                </a:ext>
              </a:extLst>
            </p:cNvPr>
            <p:cNvSpPr txBox="1"/>
            <p:nvPr/>
          </p:nvSpPr>
          <p:spPr>
            <a:xfrm>
              <a:off x="6651871" y="5116953"/>
              <a:ext cx="111280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u="sng" dirty="0"/>
                <a:t>indeterminate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A4C245AA-8B86-4C0A-E1D9-131BFC9F23DC}"/>
              </a:ext>
            </a:extLst>
          </p:cNvPr>
          <p:cNvGrpSpPr/>
          <p:nvPr/>
        </p:nvGrpSpPr>
        <p:grpSpPr>
          <a:xfrm>
            <a:off x="476449" y="3999957"/>
            <a:ext cx="6877973" cy="276999"/>
            <a:chOff x="613083" y="3540202"/>
            <a:chExt cx="6877973" cy="276999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603C948-CE61-7DF0-1ABB-0EBABA5E5840}"/>
                </a:ext>
              </a:extLst>
            </p:cNvPr>
            <p:cNvSpPr txBox="1"/>
            <p:nvPr/>
          </p:nvSpPr>
          <p:spPr>
            <a:xfrm>
              <a:off x="613083" y="3540202"/>
              <a:ext cx="108234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/>
                <a:t>Eigenvalues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E11C0A71-637A-CC49-F8D1-E5563D7C7E0C}"/>
                </a:ext>
              </a:extLst>
            </p:cNvPr>
            <p:cNvSpPr txBox="1"/>
            <p:nvPr/>
          </p:nvSpPr>
          <p:spPr>
            <a:xfrm>
              <a:off x="1771260" y="3540202"/>
              <a:ext cx="80021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-0.4, -1.8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90374A32-2177-F4D2-5EA7-390A45A5D953}"/>
                </a:ext>
              </a:extLst>
            </p:cNvPr>
            <p:cNvSpPr txBox="1"/>
            <p:nvPr/>
          </p:nvSpPr>
          <p:spPr>
            <a:xfrm>
              <a:off x="3391169" y="3540202"/>
              <a:ext cx="69762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3.6, 1.4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A7F51FC2-3A03-DC3F-B741-06161581621E}"/>
                </a:ext>
              </a:extLst>
            </p:cNvPr>
            <p:cNvSpPr txBox="1"/>
            <p:nvPr/>
          </p:nvSpPr>
          <p:spPr>
            <a:xfrm>
              <a:off x="5100149" y="3540202"/>
              <a:ext cx="74892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3.3, -0.3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C19887AA-7EB5-5CB4-78C3-4BFB946C59B6}"/>
                </a:ext>
              </a:extLst>
            </p:cNvPr>
            <p:cNvSpPr txBox="1"/>
            <p:nvPr/>
          </p:nvSpPr>
          <p:spPr>
            <a:xfrm>
              <a:off x="6690837" y="3540202"/>
              <a:ext cx="80021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-3.5, -0.1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6916AD59-4520-F182-397E-E7A94DB1E39A}"/>
              </a:ext>
            </a:extLst>
          </p:cNvPr>
          <p:cNvGrpSpPr/>
          <p:nvPr/>
        </p:nvGrpSpPr>
        <p:grpSpPr>
          <a:xfrm>
            <a:off x="476449" y="1322214"/>
            <a:ext cx="8206099" cy="1298552"/>
            <a:chOff x="613083" y="1322214"/>
            <a:chExt cx="8206099" cy="1298552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80280D8-2AFD-A7F9-34CB-CCD8780DC1A3}"/>
                </a:ext>
              </a:extLst>
            </p:cNvPr>
            <p:cNvSpPr txBox="1"/>
            <p:nvPr/>
          </p:nvSpPr>
          <p:spPr>
            <a:xfrm>
              <a:off x="1771260" y="1720520"/>
              <a:ext cx="1420703" cy="90024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050" dirty="0">
                  <a:latin typeface="Courier New" panose="02070309020205020404" pitchFamily="49" charset="0"/>
                  <a:cs typeface="Courier New" panose="02070309020205020404" pitchFamily="49" charset="0"/>
                </a:rPr>
                <a:t>-&gt; S1; 1</a:t>
              </a:r>
            </a:p>
            <a:p>
              <a:r>
                <a:rPr lang="en-US" sz="1050" dirty="0">
                  <a:latin typeface="Courier New" panose="02070309020205020404" pitchFamily="49" charset="0"/>
                  <a:cs typeface="Courier New" panose="02070309020205020404" pitchFamily="49" charset="0"/>
                </a:rPr>
                <a:t>S1 -&gt; S2; S1</a:t>
              </a:r>
            </a:p>
            <a:p>
              <a:r>
                <a:rPr lang="en-US" sz="1050" dirty="0">
                  <a:latin typeface="Courier New" panose="02070309020205020404" pitchFamily="49" charset="0"/>
                  <a:cs typeface="Courier New" panose="02070309020205020404" pitchFamily="49" charset="0"/>
                </a:rPr>
                <a:t>S2 -&gt; S1; 0.5*S2</a:t>
              </a:r>
            </a:p>
            <a:p>
              <a:r>
                <a:rPr lang="en-US" sz="1050" dirty="0">
                  <a:latin typeface="Courier New" panose="02070309020205020404" pitchFamily="49" charset="0"/>
                  <a:cs typeface="Courier New" panose="02070309020205020404" pitchFamily="49" charset="0"/>
                </a:rPr>
                <a:t>S2 -&gt; ; 0.75*S2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F3E372B-EAD9-CB4D-1F59-4F5233606E91}"/>
                </a:ext>
              </a:extLst>
            </p:cNvPr>
            <p:cNvSpPr txBox="1"/>
            <p:nvPr/>
          </p:nvSpPr>
          <p:spPr>
            <a:xfrm>
              <a:off x="3391169" y="1789770"/>
              <a:ext cx="1746356" cy="7386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050" dirty="0">
                  <a:latin typeface="Courier New" panose="02070309020205020404" pitchFamily="49" charset="0"/>
                  <a:cs typeface="Courier New" panose="02070309020205020404" pitchFamily="49" charset="0"/>
                </a:rPr>
                <a:t>-&gt; S1; 1</a:t>
              </a:r>
            </a:p>
            <a:p>
              <a:r>
                <a:rPr lang="en-US" sz="1050" dirty="0">
                  <a:latin typeface="Courier New" panose="02070309020205020404" pitchFamily="49" charset="0"/>
                  <a:cs typeface="Courier New" panose="02070309020205020404" pitchFamily="49" charset="0"/>
                </a:rPr>
                <a:t>S1 -&gt; 4 S1 + S2; S1</a:t>
              </a:r>
            </a:p>
            <a:p>
              <a:r>
                <a:rPr lang="en-US" sz="1050" dirty="0">
                  <a:latin typeface="Courier New" panose="02070309020205020404" pitchFamily="49" charset="0"/>
                  <a:cs typeface="Courier New" panose="02070309020205020404" pitchFamily="49" charset="0"/>
                </a:rPr>
                <a:t>S2 -&gt;  S1 + 3 S2; S2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248A6FE-508F-DECB-E9D5-AA75CC653867}"/>
                </a:ext>
              </a:extLst>
            </p:cNvPr>
            <p:cNvSpPr txBox="1"/>
            <p:nvPr/>
          </p:nvSpPr>
          <p:spPr>
            <a:xfrm>
              <a:off x="5100149" y="1789770"/>
              <a:ext cx="1679027" cy="7386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050" dirty="0">
                  <a:latin typeface="Courier New" panose="02070309020205020404" pitchFamily="49" charset="0"/>
                  <a:cs typeface="Courier New" panose="02070309020205020404" pitchFamily="49" charset="0"/>
                </a:rPr>
                <a:t>-&gt; S1; 1</a:t>
              </a:r>
            </a:p>
            <a:p>
              <a:r>
                <a:rPr lang="en-US" sz="1050" dirty="0">
                  <a:latin typeface="Courier New" panose="02070309020205020404" pitchFamily="49" charset="0"/>
                  <a:cs typeface="Courier New" panose="02070309020205020404" pitchFamily="49" charset="0"/>
                </a:rPr>
                <a:t>S1 -&gt; 4 S1 + S2; S1</a:t>
              </a:r>
            </a:p>
            <a:p>
              <a:r>
                <a:rPr lang="en-US" sz="1050" dirty="0">
                  <a:latin typeface="Courier New" panose="02070309020205020404" pitchFamily="49" charset="0"/>
                  <a:cs typeface="Courier New" panose="02070309020205020404" pitchFamily="49" charset="0"/>
                </a:rPr>
                <a:t>S2 -&gt;  S1 + S2; S2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D43080D-82B6-3A5A-CB7E-24255EBCFABE}"/>
                </a:ext>
              </a:extLst>
            </p:cNvPr>
            <p:cNvSpPr txBox="1"/>
            <p:nvPr/>
          </p:nvSpPr>
          <p:spPr>
            <a:xfrm>
              <a:off x="6690837" y="1651270"/>
              <a:ext cx="2128345" cy="90024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050" dirty="0">
                  <a:latin typeface="Courier New" panose="02070309020205020404" pitchFamily="49" charset="0"/>
                  <a:cs typeface="Courier New" panose="02070309020205020404" pitchFamily="49" charset="0"/>
                </a:rPr>
                <a:t>-&gt; S1; 1</a:t>
              </a:r>
            </a:p>
            <a:p>
              <a:r>
                <a:rPr lang="en-US" sz="1050" dirty="0">
                  <a:latin typeface="Courier New" panose="02070309020205020404" pitchFamily="49" charset="0"/>
                  <a:cs typeface="Courier New" panose="02070309020205020404" pitchFamily="49" charset="0"/>
                </a:rPr>
                <a:t>S1 -&gt;  S1 + S2; S1</a:t>
              </a:r>
            </a:p>
            <a:p>
              <a:r>
                <a:rPr lang="en-US" sz="1050" dirty="0">
                  <a:latin typeface="Courier New" panose="02070309020205020404" pitchFamily="49" charset="0"/>
                  <a:cs typeface="Courier New" panose="02070309020205020404" pitchFamily="49" charset="0"/>
                </a:rPr>
                <a:t>S1 -&gt; ; 3*S1</a:t>
              </a:r>
            </a:p>
            <a:p>
              <a:r>
                <a:rPr lang="en-US" sz="1050" dirty="0">
                  <a:latin typeface="Courier New" panose="02070309020205020404" pitchFamily="49" charset="0"/>
                  <a:cs typeface="Courier New" panose="02070309020205020404" pitchFamily="49" charset="0"/>
                </a:rPr>
                <a:t>S2 -&gt;  S1 + 2 S2; 1.4*S2</a:t>
              </a:r>
            </a:p>
            <a:p>
              <a:r>
                <a:rPr lang="en-US" sz="1050" dirty="0">
                  <a:latin typeface="Courier New" panose="02070309020205020404" pitchFamily="49" charset="0"/>
                  <a:cs typeface="Courier New" panose="02070309020205020404" pitchFamily="49" charset="0"/>
                </a:rPr>
                <a:t>S2 -&gt; ; 2*S2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65957FE-ADA6-8FAA-CB13-87390F08F0DA}"/>
                </a:ext>
              </a:extLst>
            </p:cNvPr>
            <p:cNvSpPr txBox="1"/>
            <p:nvPr/>
          </p:nvSpPr>
          <p:spPr>
            <a:xfrm>
              <a:off x="613083" y="1916727"/>
              <a:ext cx="63030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/>
                <a:t>Model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1BFF46B2-03AE-CFF9-7A81-389881B28149}"/>
                </a:ext>
              </a:extLst>
            </p:cNvPr>
            <p:cNvSpPr txBox="1"/>
            <p:nvPr/>
          </p:nvSpPr>
          <p:spPr>
            <a:xfrm>
              <a:off x="1967812" y="1322214"/>
              <a:ext cx="37221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(a)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BD3A89F2-8916-9776-1019-9C9A111476AA}"/>
                </a:ext>
              </a:extLst>
            </p:cNvPr>
            <p:cNvSpPr txBox="1"/>
            <p:nvPr/>
          </p:nvSpPr>
          <p:spPr>
            <a:xfrm>
              <a:off x="3658832" y="1322214"/>
              <a:ext cx="37221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(b)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C98D01F3-C976-B7A8-03FA-8993BEBD2D3D}"/>
                </a:ext>
              </a:extLst>
            </p:cNvPr>
            <p:cNvSpPr txBox="1"/>
            <p:nvPr/>
          </p:nvSpPr>
          <p:spPr>
            <a:xfrm>
              <a:off x="5323134" y="1322214"/>
              <a:ext cx="36420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(c)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49757977-3E8D-8A32-E27B-59FF39A5DAB4}"/>
                </a:ext>
              </a:extLst>
            </p:cNvPr>
            <p:cNvSpPr txBox="1"/>
            <p:nvPr/>
          </p:nvSpPr>
          <p:spPr>
            <a:xfrm>
              <a:off x="6913509" y="1322214"/>
              <a:ext cx="37221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(d)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111702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F7FE2B5-F3FB-39A2-7D99-F33C43F39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Insights Using GDT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5E35F2E7-2F11-1054-1FE6-780122D59DA6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If two subsystems are stable, then their combination is stable.</a:t>
                </a:r>
              </a:p>
              <a:p>
                <a:r>
                  <a:rPr lang="en-US" dirty="0"/>
                  <a:t>An unstable system can be stabilized by an appropriately chosen subsystem</a:t>
                </a:r>
              </a:p>
              <a:p>
                <a:pPr lvl="1"/>
                <a:r>
                  <a:rPr lang="en-US" dirty="0"/>
                  <a:t>If row </a:t>
                </a:r>
                <a:r>
                  <a:rPr lang="en-US" i="1" dirty="0"/>
                  <a:t>k</a:t>
                </a:r>
                <a:r>
                  <a:rPr lang="en-US" dirty="0"/>
                  <a:t> has a disk with a positive value, add degradation reactions (which makes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k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more negative)</a:t>
                </a:r>
              </a:p>
              <a:p>
                <a:r>
                  <a:rPr lang="en-US" dirty="0"/>
                  <a:t>For feedback, can find constraints of parameter values to ensure stability.</a:t>
                </a:r>
              </a:p>
            </p:txBody>
          </p:sp>
        </mc:Choice>
        <mc:Fallback xmlns="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5E35F2E7-2F11-1054-1FE6-780122D59D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l="-1543" b="-47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D48FCD6-5EE3-6236-2360-1F5925C9318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9ABFEC3-7D03-4247-B362-5FB0CBAF2FE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8605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2D695E-F7E9-83A5-4E87-BF8A70E32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A3106-1F44-6D06-D6D7-2BBC61C55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Response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20B30B-E4A2-540C-D62E-D06A2970B7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60636"/>
            <a:ext cx="8229600" cy="1723696"/>
          </a:xfrm>
        </p:spPr>
        <p:txBody>
          <a:bodyPr/>
          <a:lstStyle/>
          <a:p>
            <a:r>
              <a:rPr lang="en-US" sz="2800" dirty="0" err="1"/>
              <a:t>Defn</a:t>
            </a:r>
            <a:r>
              <a:rPr lang="en-US" sz="2800" dirty="0"/>
              <a:t> of step response: Change in steady state values change when there is a unit change in one or more values of forced inputs (</a:t>
            </a:r>
            <a:r>
              <a:rPr lang="en-US" sz="2800" b="1" i="1" dirty="0"/>
              <a:t>b</a:t>
            </a:r>
            <a:r>
              <a:rPr lang="en-US" sz="2800" dirty="0"/>
              <a:t>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17731B-DE4D-8988-787A-CC1BD911BAA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94074B-0605-2846-0196-5C86EA148D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9538" y="924912"/>
            <a:ext cx="2881313" cy="838200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45FAF47F-76E1-56EB-12B4-D00E902DE159}"/>
              </a:ext>
            </a:extLst>
          </p:cNvPr>
          <p:cNvSpPr txBox="1">
            <a:spLocks/>
          </p:cNvSpPr>
          <p:nvPr/>
        </p:nvSpPr>
        <p:spPr>
          <a:xfrm>
            <a:off x="369477" y="3095301"/>
            <a:ext cx="8229600" cy="3063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sz="2800" dirty="0"/>
              <a:t>Objective: Given two subsystems (including their Jacobians), what is the step response of the combined system with the same forced inputs? Assume</a:t>
            </a:r>
          </a:p>
          <a:p>
            <a:pPr lvl="1"/>
            <a:r>
              <a:rPr lang="en-US" sz="2400" dirty="0"/>
              <a:t>Subsystems are stable</a:t>
            </a:r>
          </a:p>
          <a:p>
            <a:pPr lvl="1"/>
            <a:r>
              <a:rPr lang="en-US" sz="2400" dirty="0"/>
              <a:t>No reactions in common</a:t>
            </a:r>
          </a:p>
        </p:txBody>
      </p:sp>
    </p:spTree>
    <p:extLst>
      <p:ext uri="{BB962C8B-B14F-4D97-AF65-F5344CB8AC3E}">
        <p14:creationId xmlns:p14="http://schemas.microsoft.com/office/powerpoint/2010/main" val="33569956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BE79DF-1711-BECA-5F0B-642BEDDD9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E8741-91E2-6B0B-66E4-988E99C86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Response: Simplifications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2E84B0-5E38-DCDB-40D9-1EEAD8542C0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0858DC-61AE-61BE-BB18-FF7B80BE38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9538" y="924912"/>
            <a:ext cx="2881313" cy="8382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Placeholder 6">
                <a:extLst>
                  <a:ext uri="{FF2B5EF4-FFF2-40B4-BE49-F238E27FC236}">
                    <a16:creationId xmlns:a16="http://schemas.microsoft.com/office/drawing/2014/main" id="{DA703CCA-7267-336F-F953-EA094B8E90AB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457200" y="1763112"/>
                <a:ext cx="8229600" cy="2908738"/>
              </a:xfrm>
            </p:spPr>
            <p:txBody>
              <a:bodyPr/>
              <a:lstStyle/>
              <a:p>
                <a:r>
                  <a:rPr lang="en-US" dirty="0"/>
                  <a:t>Suffices to solve for each forced input separately</a:t>
                </a:r>
              </a:p>
              <a:p>
                <a:r>
                  <a:rPr lang="en-US" dirty="0"/>
                  <a:t>The steady state values,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̅</m:t>
                    </m:r>
                  </m:oMath>
                </a14:m>
                <a:r>
                  <a:rPr lang="en-US" dirty="0"/>
                  <a:t>, are solutions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 = 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𝑨𝒙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̅ + 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endParaRPr lang="en-US" b="1" dirty="0"/>
              </a:p>
              <a:p>
                <a:r>
                  <a:rPr lang="en-US" dirty="0"/>
                  <a:t>Can partition species (state variables) into</a:t>
                </a:r>
              </a:p>
              <a:p>
                <a:pPr lvl="1"/>
                <a:r>
                  <a:rPr lang="en-US" dirty="0"/>
                  <a:t>Only the first subsystem</a:t>
                </a:r>
              </a:p>
              <a:p>
                <a:pPr lvl="1"/>
                <a:r>
                  <a:rPr lang="en-US" dirty="0"/>
                  <a:t>Only the second subsystem</a:t>
                </a:r>
              </a:p>
              <a:p>
                <a:pPr lvl="1"/>
                <a:r>
                  <a:rPr lang="en-US" dirty="0"/>
                  <a:t>Both subsystems (coupling species)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7" name="Text Placeholder 6">
                <a:extLst>
                  <a:ext uri="{FF2B5EF4-FFF2-40B4-BE49-F238E27FC236}">
                    <a16:creationId xmlns:a16="http://schemas.microsoft.com/office/drawing/2014/main" id="{DA703CCA-7267-336F-F953-EA094B8E90A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763112"/>
                <a:ext cx="8229600" cy="2908738"/>
              </a:xfrm>
              <a:blipFill>
                <a:blip r:embed="rId3"/>
                <a:stretch>
                  <a:fillRect l="-1543" b="-521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749174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1944777-F2A6-6F3E-3E5E-E5FC3FFB12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875" y="3360246"/>
            <a:ext cx="3434145" cy="185288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CCE4F28-9368-2C5B-EEF2-D9413076BF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65390"/>
            <a:ext cx="8229600" cy="838200"/>
          </a:xfrm>
        </p:spPr>
        <p:txBody>
          <a:bodyPr/>
          <a:lstStyle/>
          <a:p>
            <a:r>
              <a:rPr lang="en-US" dirty="0"/>
              <a:t>Combining Subsystem </a:t>
            </a:r>
            <a:r>
              <a:rPr lang="en-US" i="1" dirty="0"/>
              <a:t>Y</a:t>
            </a:r>
            <a:r>
              <a:rPr lang="en-US" dirty="0"/>
              <a:t> and </a:t>
            </a:r>
            <a:r>
              <a:rPr lang="en-US" i="1" dirty="0"/>
              <a:t>Z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4BDA4E-517C-851B-C887-B5D15644032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D48F8C-C61C-7081-CA8F-7E47D0F667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8879" y="897589"/>
            <a:ext cx="5303563" cy="282543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D6AB662-EAB8-E3B5-7E2F-97FB7AA782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0" y="3684096"/>
            <a:ext cx="4572000" cy="101600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55D26D73-31A7-1008-1DC3-D0631A8F4B08}"/>
              </a:ext>
            </a:extLst>
          </p:cNvPr>
          <p:cNvSpPr txBox="1"/>
          <p:nvPr/>
        </p:nvSpPr>
        <p:spPr>
          <a:xfrm>
            <a:off x="6278031" y="3091467"/>
            <a:ext cx="16642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Coupling species</a:t>
            </a:r>
          </a:p>
        </p:txBody>
      </p:sp>
      <p:cxnSp>
        <p:nvCxnSpPr>
          <p:cNvPr id="23" name="Curved Connector 22">
            <a:extLst>
              <a:ext uri="{FF2B5EF4-FFF2-40B4-BE49-F238E27FC236}">
                <a16:creationId xmlns:a16="http://schemas.microsoft.com/office/drawing/2014/main" id="{FB2EEC8D-AADF-FFCA-E8BF-BA1A6466B66C}"/>
              </a:ext>
            </a:extLst>
          </p:cNvPr>
          <p:cNvCxnSpPr/>
          <p:nvPr/>
        </p:nvCxnSpPr>
        <p:spPr>
          <a:xfrm rot="10800000">
            <a:off x="4400661" y="2756056"/>
            <a:ext cx="1852995" cy="481130"/>
          </a:xfrm>
          <a:prstGeom prst="curvedConnector3">
            <a:avLst>
              <a:gd name="adj1" fmla="val 105019"/>
            </a:avLst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5ECB2E1-2107-D6C2-92E0-F202A92CAD74}"/>
                  </a:ext>
                </a:extLst>
              </p:cNvPr>
              <p:cNvSpPr txBox="1"/>
              <p:nvPr/>
            </p:nvSpPr>
            <p:spPr>
              <a:xfrm>
                <a:off x="4993193" y="5039547"/>
                <a:ext cx="351545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800" b="1" dirty="0"/>
                  <a:t>Observations</a:t>
                </a:r>
              </a:p>
              <a:p>
                <a:r>
                  <a:rPr lang="en-US" sz="1800" dirty="0"/>
                  <a:t>1. No retroactivity if 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𝒚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̅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𝒛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̅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𝒙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̅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endParaRPr lang="en-US" sz="18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5ECB2E1-2107-D6C2-92E0-F202A92CAD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3193" y="5039547"/>
                <a:ext cx="3515450" cy="646331"/>
              </a:xfrm>
              <a:prstGeom prst="rect">
                <a:avLst/>
              </a:prstGeom>
              <a:blipFill>
                <a:blip r:embed="rId5"/>
                <a:stretch>
                  <a:fillRect l="-1439" t="-3846" b="-13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1" name="Group 30">
            <a:extLst>
              <a:ext uri="{FF2B5EF4-FFF2-40B4-BE49-F238E27FC236}">
                <a16:creationId xmlns:a16="http://schemas.microsoft.com/office/drawing/2014/main" id="{FC0117FC-F3A4-2472-4135-36E1B97DBE01}"/>
              </a:ext>
            </a:extLst>
          </p:cNvPr>
          <p:cNvGrpSpPr/>
          <p:nvPr/>
        </p:nvGrpSpPr>
        <p:grpSpPr>
          <a:xfrm>
            <a:off x="1943100" y="5292725"/>
            <a:ext cx="2628900" cy="1289270"/>
            <a:chOff x="1943100" y="5292725"/>
            <a:chExt cx="2628900" cy="1289270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A8F3C5D4-9A5D-E23D-6FCF-E47C1A5EA5A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943100" y="5292725"/>
              <a:ext cx="2628900" cy="330200"/>
            </a:xfrm>
            <a:prstGeom prst="rect">
              <a:avLst/>
            </a:prstGeom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DEA53776-9CBF-D823-0D2E-526770690E7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975947" y="5591395"/>
              <a:ext cx="2552700" cy="9906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80361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916E1-48AB-2709-D55E-7FDCD576B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Solving for Coupling Species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43C405-CF94-BF23-BB70-00226C8ABEA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601770F-BEE5-E25E-26E2-5F2799209D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803" y="1114100"/>
            <a:ext cx="7340600" cy="9271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11907B5-D7E1-F468-AF17-1DF6650BDD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3285" y="2307675"/>
            <a:ext cx="3426811" cy="434789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0484C50-54E0-4B6E-D00F-9B38AB826CDB}"/>
              </a:ext>
            </a:extLst>
          </p:cNvPr>
          <p:cNvSpPr txBox="1"/>
          <p:nvPr/>
        </p:nvSpPr>
        <p:spPr>
          <a:xfrm>
            <a:off x="788276" y="3563007"/>
            <a:ext cx="2813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/>
              <a:t>Single coupling species</a:t>
            </a:r>
          </a:p>
        </p:txBody>
      </p:sp>
    </p:spTree>
    <p:extLst>
      <p:ext uri="{BB962C8B-B14F-4D97-AF65-F5344CB8AC3E}">
        <p14:creationId xmlns:p14="http://schemas.microsoft.com/office/powerpoint/2010/main" val="2543947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B7AE2-CAEF-CF71-40A8-6A168814F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Branch Structure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F2F514-D187-7C1B-288C-F2CC58C93E5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941918" y="6248400"/>
            <a:ext cx="533400" cy="365125"/>
          </a:xfrm>
        </p:spPr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00DE8CD-9288-7ADE-5DC7-1750007DEC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87" y="879146"/>
            <a:ext cx="3886200" cy="42799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1FDE8A9-7675-D63A-28D7-7A2B8F5FB0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3214" y="1284890"/>
            <a:ext cx="3037490" cy="38539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2D9CD33-1375-C4B3-9305-B70BC73992B6}"/>
                  </a:ext>
                </a:extLst>
              </p:cNvPr>
              <p:cNvSpPr txBox="1"/>
              <p:nvPr/>
            </p:nvSpPr>
            <p:spPr>
              <a:xfrm>
                <a:off x="7156959" y="2553302"/>
                <a:ext cx="1620828" cy="36933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=0=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2D9CD33-1375-C4B3-9305-B70BC73992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6959" y="2553302"/>
                <a:ext cx="1620828" cy="369332"/>
              </a:xfrm>
              <a:prstGeom prst="rect">
                <a:avLst/>
              </a:prstGeom>
              <a:blipFill>
                <a:blip r:embed="rId4"/>
                <a:stretch>
                  <a:fillRect b="-34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4DBF7713-A322-30EB-3168-2DF7285624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6107" y="5825357"/>
            <a:ext cx="1714500" cy="7874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601D11E-0445-B768-0197-E8AE560E57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46830" y="5863457"/>
            <a:ext cx="1320800" cy="7112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C5032E8-855D-9E72-A40E-86AABBA18D4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73854" y="5888857"/>
            <a:ext cx="1155700" cy="6604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9533E91-1E2F-7368-99CB-DC0971D7E617}"/>
                  </a:ext>
                </a:extLst>
              </p:cNvPr>
              <p:cNvSpPr txBox="1"/>
              <p:nvPr/>
            </p:nvSpPr>
            <p:spPr>
              <a:xfrm>
                <a:off x="921585" y="5486803"/>
                <a:ext cx="773493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/>
                  <a:t>Constraint for eliminating retroactivity (</a:t>
                </a:r>
                <a14:m>
                  <m:oMath xmlns:m="http://schemas.openxmlformats.org/officeDocument/2006/math">
                    <m:r>
                      <a:rPr lang="en-US" sz="1600" b="1" i="1">
                        <a:latin typeface="Cambria Math" panose="02040503050406030204" pitchFamily="18" charset="0"/>
                      </a:rPr>
                      <m:t>𝒚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̅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b="1" i="1">
                        <a:latin typeface="Cambria Math" panose="02040503050406030204" pitchFamily="18" charset="0"/>
                      </a:rPr>
                      <m:t>𝒛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̅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b="1" i="1">
                        <a:latin typeface="Cambria Math" panose="02040503050406030204" pitchFamily="18" charset="0"/>
                      </a:rPr>
                      <m:t>𝒙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̅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600" b="1" i="0" smtClean="0">
                        <a:latin typeface="Cambria Math" panose="02040503050406030204" pitchFamily="18" charset="0"/>
                      </a:rPr>
                      <m:t>𝐝𝐞𝐩𝐞𝐧𝐝</m:t>
                    </m:r>
                    <m:r>
                      <a:rPr lang="en-US" sz="1600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600" b="1" i="0" smtClean="0">
                        <a:latin typeface="Cambria Math" panose="02040503050406030204" pitchFamily="18" charset="0"/>
                      </a:rPr>
                      <m:t>𝐨𝐧</m:t>
                    </m:r>
                    <m:r>
                      <a:rPr lang="en-US" sz="1600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600" b="1" i="0" smtClean="0">
                        <a:latin typeface="Cambria Math" panose="02040503050406030204" pitchFamily="18" charset="0"/>
                      </a:rPr>
                      <m:t>𝐟𝐨𝐫𝐜𝐞𝐝</m:t>
                    </m:r>
                    <m:r>
                      <a:rPr lang="en-US" sz="1600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600" b="1" i="0" smtClean="0">
                        <a:latin typeface="Cambria Math" panose="02040503050406030204" pitchFamily="18" charset="0"/>
                      </a:rPr>
                      <m:t>𝐢𝐧𝐩𝐮𝐭𝐬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1600" b="1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9533E91-1E2F-7368-99CB-DC0971D7E6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585" y="5486803"/>
                <a:ext cx="7734938" cy="338554"/>
              </a:xfrm>
              <a:prstGeom prst="rect">
                <a:avLst/>
              </a:prstGeom>
              <a:blipFill>
                <a:blip r:embed="rId8"/>
                <a:stretch>
                  <a:fillRect l="-328" t="-7407" b="-259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04817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917D1-53C2-99DD-444B-AB1827567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6408"/>
            <a:ext cx="8229600" cy="627992"/>
          </a:xfrm>
        </p:spPr>
        <p:txBody>
          <a:bodyPr/>
          <a:lstStyle/>
          <a:p>
            <a:r>
              <a:rPr lang="en-US" sz="3200" dirty="0"/>
              <a:t>Antithetic Proportional Control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0A89C7-389A-5174-E0B3-00A07FB5D9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1284" y="5023945"/>
            <a:ext cx="8229600" cy="1140372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pPr marL="25400" indent="0">
              <a:buNone/>
            </a:pPr>
            <a:r>
              <a:rPr lang="en-US" sz="2400" dirty="0"/>
              <a:t>The steady state concentration of S</a:t>
            </a:r>
            <a:r>
              <a:rPr lang="en-US" sz="2400" baseline="-25000" dirty="0"/>
              <a:t>O </a:t>
            </a:r>
            <a:r>
              <a:rPr lang="en-US" sz="2400" dirty="0"/>
              <a:t> (</a:t>
            </a:r>
            <a:r>
              <a:rPr lang="en-US" sz="2400" i="1" dirty="0" err="1"/>
              <a:t>x</a:t>
            </a:r>
            <a:r>
              <a:rPr lang="en-US" sz="2400" baseline="-25000" dirty="0" err="1"/>
              <a:t>O</a:t>
            </a:r>
            <a:r>
              <a:rPr lang="en-US" sz="2400" dirty="0"/>
              <a:t>) is independent of the force inputs.</a:t>
            </a:r>
            <a:endParaRPr lang="en-US" sz="2400" baseline="-25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2A4429-55E7-B756-0C11-32A08C2E039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14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8B0E945-91FD-6048-51EC-1DA3829BC9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6480" y="909144"/>
            <a:ext cx="3290320" cy="18498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E235062-8CB6-85AA-61B9-C273DD407A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806262"/>
            <a:ext cx="3471752" cy="197594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B3584C0-0475-CB50-AC37-4F9EE824F1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3387615"/>
            <a:ext cx="3035300" cy="8763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65086CD-B7A9-1EA9-4DAD-01A0CC6344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74269" y="1012939"/>
            <a:ext cx="2364854" cy="155158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620191A-EB21-3885-0CD5-DC1B39BCDF21}"/>
              </a:ext>
            </a:extLst>
          </p:cNvPr>
          <p:cNvSpPr txBox="1"/>
          <p:nvPr/>
        </p:nvSpPr>
        <p:spPr>
          <a:xfrm>
            <a:off x="2979253" y="2113265"/>
            <a:ext cx="344966" cy="25391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050" i="1" dirty="0"/>
              <a:t>S</a:t>
            </a:r>
            <a:r>
              <a:rPr lang="en-US" sz="1050" baseline="-25000" dirty="0"/>
              <a:t>O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0294164-E006-33DD-8893-26F117D7A1F3}"/>
              </a:ext>
            </a:extLst>
          </p:cNvPr>
          <p:cNvSpPr txBox="1"/>
          <p:nvPr/>
        </p:nvSpPr>
        <p:spPr>
          <a:xfrm>
            <a:off x="2979253" y="1153219"/>
            <a:ext cx="300082" cy="25391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050" i="1" dirty="0"/>
              <a:t>S</a:t>
            </a:r>
            <a:r>
              <a:rPr lang="en-US" sz="1050" baseline="-25000" dirty="0"/>
              <a:t>I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876329A-F2B9-93D2-4C57-3B7FD9681929}"/>
              </a:ext>
            </a:extLst>
          </p:cNvPr>
          <p:cNvCxnSpPr/>
          <p:nvPr/>
        </p:nvCxnSpPr>
        <p:spPr>
          <a:xfrm>
            <a:off x="5361756" y="5220184"/>
            <a:ext cx="18251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3337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CB027-A4D9-3303-D47A-6D8270EAC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Structures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322744-CEF9-BAE2-3CB3-BA0DF81BFF5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879BAE0-863D-F3CC-E6B6-147B2876AA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602" y="1196183"/>
            <a:ext cx="2440997" cy="216316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C4ECB91-4AA7-D843-1BDC-10A8BDF4DD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8621" y="1463604"/>
            <a:ext cx="3210414" cy="135670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F6AA3AF-FC9B-9A76-C565-2F8190BFA539}"/>
              </a:ext>
            </a:extLst>
          </p:cNvPr>
          <p:cNvSpPr txBox="1"/>
          <p:nvPr/>
        </p:nvSpPr>
        <p:spPr>
          <a:xfrm>
            <a:off x="1428945" y="3498658"/>
            <a:ext cx="659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/>
              <a:t>Join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6ABA225-9131-345E-DD15-A5D3F14E60BB}"/>
              </a:ext>
            </a:extLst>
          </p:cNvPr>
          <p:cNvSpPr txBox="1"/>
          <p:nvPr/>
        </p:nvSpPr>
        <p:spPr>
          <a:xfrm>
            <a:off x="4877436" y="2936171"/>
            <a:ext cx="30315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/>
              <a:t>Bi-directional Interactions</a:t>
            </a:r>
          </a:p>
        </p:txBody>
      </p:sp>
    </p:spTree>
    <p:extLst>
      <p:ext uri="{BB962C8B-B14F-4D97-AF65-F5344CB8AC3E}">
        <p14:creationId xmlns:p14="http://schemas.microsoft.com/office/powerpoint/2010/main" val="203953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07BD8-B2E1-9626-4F10-BAF6A2092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But 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DC8FDDB-1D6E-1383-0119-7A6B50CA3F03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What if the </a:t>
                </a:r>
                <a:r>
                  <a:rPr lang="en-US" dirty="0" err="1"/>
                  <a:t>linearizations</a:t>
                </a:r>
                <a:r>
                  <a:rPr lang="en-US" dirty="0"/>
                  <a:t> (Jacobians) change when subsystems are combined?</a:t>
                </a:r>
              </a:p>
              <a:p>
                <a:r>
                  <a:rPr lang="en-US" dirty="0"/>
                  <a:t>This can happen because</a:t>
                </a:r>
              </a:p>
              <a:p>
                <a:pPr lvl="1"/>
                <a:r>
                  <a:rPr lang="en-US" dirty="0"/>
                  <a:t>Different region of Michaelis-Menten kinetics (linear vs. constant)</a:t>
                </a:r>
              </a:p>
              <a:p>
                <a:pPr lvl="1"/>
                <a:r>
                  <a:rPr lang="en-US" dirty="0"/>
                  <a:t>Mass action kinetics with two reactants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]≈</m:t>
                    </m:r>
                    <m:r>
                      <m:rPr>
                        <m:sty m:val="p"/>
                      </m:rPr>
                      <a:rPr lang="en-US" i="1"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̅]</m:t>
                    </m:r>
                    <m:r>
                      <a:rPr lang="en-US"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]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+ 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][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̅]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DC8FDDB-1D6E-1383-0119-7A6B50CA3F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l="-1543" r="-3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2CDCD1-3916-775A-7359-3A71239A1A7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3A59E48-7DFF-6AEF-451C-428841C011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7034" y="3429000"/>
            <a:ext cx="1676400" cy="86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7680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516D5-ACFC-A779-C938-EE3B8D919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9CC3326-44C4-937B-6017-076A1C8C4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Good are Linear Approximations in </a:t>
            </a:r>
            <a:r>
              <a:rPr lang="en-US" dirty="0" err="1"/>
              <a:t>BioModels</a:t>
            </a:r>
            <a:r>
              <a:rPr lang="en-US" dirty="0"/>
              <a:t>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889420-347E-1B5B-B7AD-0DFA1C2389E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17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9DB4D73-1308-8331-F338-48C8D5B661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482" y="2924349"/>
            <a:ext cx="3689350" cy="276225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EB702EA-C85E-F5C0-DCF7-E810D1AD5DED}"/>
              </a:ext>
            </a:extLst>
          </p:cNvPr>
          <p:cNvSpPr txBox="1"/>
          <p:nvPr/>
        </p:nvSpPr>
        <p:spPr>
          <a:xfrm>
            <a:off x="530983" y="1786289"/>
            <a:ext cx="800272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Linear model is a good approximation if the Jacobian does not change over time.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Calculated the maximum coefficient of variant of entries in Jacobians  over 100 time points for ~800 models in </a:t>
            </a:r>
            <a:r>
              <a:rPr lang="en-US" sz="1600" dirty="0" err="1"/>
              <a:t>BioModels</a:t>
            </a:r>
            <a:endParaRPr lang="en-US" sz="1600" dirty="0"/>
          </a:p>
          <a:p>
            <a:endParaRPr lang="en-US" sz="1600" dirty="0"/>
          </a:p>
          <a:p>
            <a:endParaRPr lang="en-US" sz="16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463E268-C387-CA49-E840-4677EC96CAEC}"/>
              </a:ext>
            </a:extLst>
          </p:cNvPr>
          <p:cNvSpPr txBox="1"/>
          <p:nvPr/>
        </p:nvSpPr>
        <p:spPr>
          <a:xfrm>
            <a:off x="1340987" y="5848290"/>
            <a:ext cx="64620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Linear approximation likely works well for ~100 models.</a:t>
            </a:r>
          </a:p>
        </p:txBody>
      </p:sp>
    </p:spTree>
    <p:extLst>
      <p:ext uri="{BB962C8B-B14F-4D97-AF65-F5344CB8AC3E}">
        <p14:creationId xmlns:p14="http://schemas.microsoft.com/office/powerpoint/2010/main" val="1468680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250F0-59B4-D835-4CC7-69C6FA1C1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81000"/>
            <a:ext cx="4114800" cy="838200"/>
          </a:xfrm>
        </p:spPr>
        <p:txBody>
          <a:bodyPr/>
          <a:lstStyle/>
          <a:p>
            <a:r>
              <a:rPr lang="en-US" sz="2800" dirty="0"/>
              <a:t>Example: </a:t>
            </a:r>
            <a:r>
              <a:rPr lang="en-US" sz="2800" dirty="0" err="1"/>
              <a:t>BioModels</a:t>
            </a:r>
            <a:r>
              <a:rPr lang="en-US" sz="2800" dirty="0"/>
              <a:t> 57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342376-02AE-FF3D-53AF-4CD48B488A0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18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BF7CDBB-ADC2-ABB8-EA8B-2E0A2D693A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650" y="3000353"/>
            <a:ext cx="4423899" cy="3248047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8CC64CC4-EB48-D463-33FC-81871A607167}"/>
              </a:ext>
            </a:extLst>
          </p:cNvPr>
          <p:cNvSpPr txBox="1">
            <a:spLocks/>
          </p:cNvSpPr>
          <p:nvPr/>
        </p:nvSpPr>
        <p:spPr>
          <a:xfrm>
            <a:off x="493507" y="1584890"/>
            <a:ext cx="8466084" cy="1734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25400" indent="0">
              <a:buFont typeface="Arial"/>
              <a:buNone/>
            </a:pP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Jch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CaER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=&gt;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Ca_Cyt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 Jch_Fch_0*p1*p2*p3;</a:t>
            </a:r>
          </a:p>
          <a:p>
            <a:pPr marL="25400" indent="0">
              <a:buFont typeface="Arial"/>
              <a:buNone/>
            </a:pP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Jleak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CaER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=&gt;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Ca_Cyt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Jleak_Fleak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25400" indent="0">
              <a:buFont typeface="Arial"/>
              <a:buNone/>
            </a:pP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Jpump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Ca_Cyt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=&gt;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CaER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 Jpump_Fpump_0*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Ca_Cyt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/(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Jpump_Kpump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+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Ca_Cyt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25400" indent="0">
              <a:buFont typeface="Arial"/>
              <a:buNone/>
            </a:pPr>
            <a:endParaRPr lang="en-US" sz="105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472A2FE-B011-3971-AE50-29E7204426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2505" y="303942"/>
            <a:ext cx="4150272" cy="1280948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58E1D670-58A0-DA96-8B70-C9D6C0A67A2E}"/>
              </a:ext>
            </a:extLst>
          </p:cNvPr>
          <p:cNvGrpSpPr/>
          <p:nvPr/>
        </p:nvGrpSpPr>
        <p:grpSpPr>
          <a:xfrm>
            <a:off x="5381081" y="3073623"/>
            <a:ext cx="3305720" cy="2829301"/>
            <a:chOff x="5227990" y="2653864"/>
            <a:chExt cx="3305720" cy="2829301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BE63304-2E76-0F03-C2C1-F0CD5617ADA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227990" y="3023943"/>
              <a:ext cx="3305720" cy="2459222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7E9046D-4FA6-3047-7191-2AEDFAC9E479}"/>
                </a:ext>
              </a:extLst>
            </p:cNvPr>
            <p:cNvSpPr txBox="1"/>
            <p:nvPr/>
          </p:nvSpPr>
          <p:spPr>
            <a:xfrm>
              <a:off x="5654565" y="2653864"/>
              <a:ext cx="264046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Wolf Model Counter example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2189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DA782BC-27E8-88C1-533A-7EF29B0BE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Approximating </a:t>
            </a:r>
            <a:r>
              <a:rPr lang="en-US" dirty="0" err="1"/>
              <a:t>BioModels</a:t>
            </a:r>
            <a:r>
              <a:rPr lang="en-US" dirty="0"/>
              <a:t> With Multiple Jacobians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AC0004-B95E-243D-95FF-BD9AEBCD684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19</a:t>
            </a:fld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DA345A6-0CAB-D7EC-C6BE-69D146E75FE6}"/>
              </a:ext>
            </a:extLst>
          </p:cNvPr>
          <p:cNvGrpSpPr/>
          <p:nvPr/>
        </p:nvGrpSpPr>
        <p:grpSpPr>
          <a:xfrm>
            <a:off x="651641" y="2905547"/>
            <a:ext cx="3689350" cy="3027987"/>
            <a:chOff x="651641" y="2295948"/>
            <a:chExt cx="3689350" cy="3027987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629FE89-EDD9-95EA-00A4-279F6FD92F4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51641" y="2561685"/>
              <a:ext cx="3689350" cy="276225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1C1E432-2F13-2FDF-DFD5-715116688CC6}"/>
                </a:ext>
              </a:extLst>
            </p:cNvPr>
            <p:cNvSpPr txBox="1"/>
            <p:nvPr/>
          </p:nvSpPr>
          <p:spPr>
            <a:xfrm>
              <a:off x="1271752" y="2295948"/>
              <a:ext cx="2732689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1 Jacobian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140477F-882E-EC50-74F3-36FD8EBF21AC}"/>
              </a:ext>
            </a:extLst>
          </p:cNvPr>
          <p:cNvGrpSpPr/>
          <p:nvPr/>
        </p:nvGrpSpPr>
        <p:grpSpPr>
          <a:xfrm>
            <a:off x="4949367" y="2903195"/>
            <a:ext cx="3663650" cy="3038011"/>
            <a:chOff x="4949367" y="2293596"/>
            <a:chExt cx="3663650" cy="3038011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560F0EDB-252E-4059-8EDD-B6ACFC64973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49367" y="2561685"/>
              <a:ext cx="3663650" cy="2769922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19FA595-0772-9C3A-2C89-186938E8650A}"/>
                </a:ext>
              </a:extLst>
            </p:cNvPr>
            <p:cNvSpPr txBox="1"/>
            <p:nvPr/>
          </p:nvSpPr>
          <p:spPr>
            <a:xfrm>
              <a:off x="5533696" y="2293596"/>
              <a:ext cx="2732689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3 Jacobians</a:t>
              </a: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8B0502F4-CBBD-2E4E-6B71-CFFCDB6FBE55}"/>
              </a:ext>
            </a:extLst>
          </p:cNvPr>
          <p:cNvSpPr txBox="1"/>
          <p:nvPr/>
        </p:nvSpPr>
        <p:spPr>
          <a:xfrm>
            <a:off x="530983" y="1786289"/>
            <a:ext cx="800272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Linear model is a good approximation if the Jacobian does not change over time.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Calculated the maximum coefficient of variant of entries in Jacobians  over 100 time points for ~800 models in </a:t>
            </a:r>
            <a:r>
              <a:rPr lang="en-US" sz="1600" dirty="0" err="1"/>
              <a:t>BioModels</a:t>
            </a:r>
            <a:endParaRPr lang="en-US" sz="1600" dirty="0"/>
          </a:p>
          <a:p>
            <a:endParaRPr lang="en-US" sz="1600" dirty="0"/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34404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53C36-1443-374F-B787-31CF6629A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Assessing Effect of Combining Subsystems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6CAE38-3FE3-3C71-C293-0E3CEDBDE0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146331"/>
          </a:xfrm>
        </p:spPr>
        <p:txBody>
          <a:bodyPr/>
          <a:lstStyle/>
          <a:p>
            <a:r>
              <a:rPr lang="en-US" sz="2400" dirty="0"/>
              <a:t>Consider multiple Jacobians for a subsystem</a:t>
            </a:r>
          </a:p>
          <a:p>
            <a:pPr lvl="1"/>
            <a:r>
              <a:rPr lang="en-US" sz="2000" dirty="0"/>
              <a:t>Jacobians reflect different operating regions</a:t>
            </a:r>
          </a:p>
          <a:p>
            <a:r>
              <a:rPr lang="en-US" sz="2400" dirty="0"/>
              <a:t>Do stability and step response analysis for the combinations that best reflect the expected operating region</a:t>
            </a:r>
          </a:p>
          <a:p>
            <a:r>
              <a:rPr lang="en-US" sz="2400" dirty="0"/>
              <a:t>Evaluate on </a:t>
            </a:r>
            <a:r>
              <a:rPr lang="en-US" sz="2400" dirty="0" err="1"/>
              <a:t>BioModels</a:t>
            </a:r>
            <a:endParaRPr lang="en-US" sz="2400" dirty="0"/>
          </a:p>
          <a:p>
            <a:pPr lvl="1"/>
            <a:r>
              <a:rPr lang="en-US" sz="2000" dirty="0"/>
              <a:t>Find model pairs with overlapping species</a:t>
            </a:r>
          </a:p>
          <a:p>
            <a:pPr lvl="1"/>
            <a:r>
              <a:rPr lang="en-US" sz="2000" dirty="0"/>
              <a:t>Find Jacobians for models in isolation</a:t>
            </a:r>
          </a:p>
          <a:p>
            <a:pPr lvl="1"/>
            <a:r>
              <a:rPr lang="en-US" sz="2000" dirty="0"/>
              <a:t>Predict stability and step response using multi-Jacobian analysis</a:t>
            </a:r>
          </a:p>
          <a:p>
            <a:pPr lvl="1"/>
            <a:r>
              <a:rPr lang="en-US" sz="2000" dirty="0"/>
              <a:t>Compare predictions with simulations of the combined models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42494C-AB33-DF11-3050-8AABBD917F2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9977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15AE7-BF41-30BB-BA89-B429CB05C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BACKUP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70A8D6-4477-8BF9-356C-3CAEFDBD0C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028D4E-0C00-3103-8F0F-2C67BD3D90A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7421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A803D-326F-1799-D63D-2AC666B6F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81000"/>
            <a:ext cx="3725917" cy="838200"/>
          </a:xfrm>
        </p:spPr>
        <p:txBody>
          <a:bodyPr/>
          <a:lstStyle/>
          <a:p>
            <a:r>
              <a:rPr lang="en-US" dirty="0" err="1"/>
              <a:t>BioModels</a:t>
            </a:r>
            <a:r>
              <a:rPr lang="en-US" dirty="0"/>
              <a:t> 38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7453AC-9048-3997-44F9-EAFCFB71766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FF82DBA-F459-AD67-F7C0-12A23C035B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217" y="3365981"/>
            <a:ext cx="3636121" cy="235278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C99C71E-3ED1-F593-531C-3B0F410EA4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014" y="1380972"/>
            <a:ext cx="5770179" cy="179428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998820C-A325-6701-74C9-BA2474E376D3}"/>
              </a:ext>
            </a:extLst>
          </p:cNvPr>
          <p:cNvSpPr txBox="1"/>
          <p:nvPr/>
        </p:nvSpPr>
        <p:spPr>
          <a:xfrm>
            <a:off x="5045664" y="3846786"/>
            <a:ext cx="325820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Lots of nonlinear rate laws: 2 reactants, MM kinetics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Seems like two Jacobians provide a good approximation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70D6703-4CEF-C7AF-F982-6110C7B17B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412" y="381000"/>
            <a:ext cx="3543388" cy="1142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4315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A6084-B907-929E-0669-D8C63FFBB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Polylinear Model (</a:t>
            </a:r>
            <a:r>
              <a:rPr lang="en-US" dirty="0" err="1"/>
              <a:t>BioM</a:t>
            </a:r>
            <a:r>
              <a:rPr lang="en-US" dirty="0"/>
              <a:t> 309)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9B9E79-0E40-8875-3FB0-726784E659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371600"/>
            <a:ext cx="8229600" cy="3252952"/>
          </a:xfrm>
        </p:spPr>
        <p:txBody>
          <a:bodyPr/>
          <a:lstStyle/>
          <a:p>
            <a:pPr marL="2540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model *Tyson2003_NegFB_Homeostasis()</a:t>
            </a:r>
          </a:p>
          <a:p>
            <a:pPr marL="2540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Ep := Et - E;</a:t>
            </a:r>
          </a:p>
          <a:p>
            <a:pPr marL="2540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E := Et*(2*k3*J4/((k4*R - k3) </a:t>
            </a:r>
          </a:p>
          <a:p>
            <a:pPr marL="2540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+ J3*(k4*R) + J4*k3 + (((k4*R - k3) </a:t>
            </a:r>
          </a:p>
          <a:p>
            <a:pPr marL="2540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+ J3*(k4*R) + J4*k3)^2 –</a:t>
            </a:r>
          </a:p>
          <a:p>
            <a:pPr marL="2540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4*(k4*R - k3)*k3*J4)^(1/2)));</a:t>
            </a:r>
          </a:p>
          <a:p>
            <a:pPr marL="2540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Km3 := J3*Et;</a:t>
            </a:r>
          </a:p>
          <a:p>
            <a:pPr marL="2540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Km4 := J4*Et;</a:t>
            </a:r>
          </a:p>
          <a:p>
            <a:pPr marL="25400" indent="0">
              <a:buNone/>
            </a:pP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540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r0: =&gt; R; env*k0*E;</a:t>
            </a:r>
          </a:p>
          <a:p>
            <a:pPr marL="2540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r2: R =&gt; ; env*k2*R*S;</a:t>
            </a:r>
          </a:p>
          <a:p>
            <a:pPr marL="2540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r3: $Ep =&gt; $E; env*k3*Ep/(Km3 + Ep);</a:t>
            </a:r>
          </a:p>
          <a:p>
            <a:pPr marL="2540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r4: $E =&gt; $Ep; env*k4*R*E/(Km4 + E);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E16850-48CF-DCB0-35D6-CDE86768C05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0D9EF8-6218-A641-6AFA-A5296DAC6A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9559" y="1219200"/>
            <a:ext cx="2077642" cy="208104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8B30A14-112A-F280-8C4E-4146CAC4B9E6}"/>
              </a:ext>
            </a:extLst>
          </p:cNvPr>
          <p:cNvSpPr txBox="1"/>
          <p:nvPr/>
        </p:nvSpPr>
        <p:spPr>
          <a:xfrm>
            <a:off x="7830204" y="3058513"/>
            <a:ext cx="284052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9240D74-138D-C53A-8F55-F4C37179EB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9559" y="3660228"/>
            <a:ext cx="2229793" cy="223344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E634ECE-AEE1-53E1-C8A6-C4BA5B3EEE3B}"/>
              </a:ext>
            </a:extLst>
          </p:cNvPr>
          <p:cNvSpPr txBox="1"/>
          <p:nvPr/>
        </p:nvSpPr>
        <p:spPr>
          <a:xfrm>
            <a:off x="7919544" y="5649307"/>
            <a:ext cx="383438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5821848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62448</TotalTime>
  <Words>1228</Words>
  <Application>Microsoft Macintosh PowerPoint</Application>
  <PresentationFormat>On-screen Show (4:3)</PresentationFormat>
  <Paragraphs>183</Paragraphs>
  <Slides>23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Courier New</vt:lpstr>
      <vt:lpstr>Arial</vt:lpstr>
      <vt:lpstr>Cambria Math</vt:lpstr>
      <vt:lpstr>Calibri</vt:lpstr>
      <vt:lpstr>Office Theme</vt:lpstr>
      <vt:lpstr>Analysis of Subsystem Interactions in  Chemical Reaction Networks  </vt:lpstr>
      <vt:lpstr>Objectives</vt:lpstr>
      <vt:lpstr>Subsystems</vt:lpstr>
      <vt:lpstr>Jacobian of a Subsystem</vt:lpstr>
      <vt:lpstr>Stability</vt:lpstr>
      <vt:lpstr>Gershgorin Disks for Stability Analysis</vt:lpstr>
      <vt:lpstr>PowerPoint Presentation</vt:lpstr>
      <vt:lpstr>Insights Using GDT</vt:lpstr>
      <vt:lpstr>Step Response</vt:lpstr>
      <vt:lpstr>Step Response: Simplifications</vt:lpstr>
      <vt:lpstr>Combining Subsystem Y and Z</vt:lpstr>
      <vt:lpstr>Solving for Coupling Species</vt:lpstr>
      <vt:lpstr>Branch Structure</vt:lpstr>
      <vt:lpstr>Antithetic Proportional Control</vt:lpstr>
      <vt:lpstr>Other Structures</vt:lpstr>
      <vt:lpstr>But …</vt:lpstr>
      <vt:lpstr>How Good are Linear Approximations in BioModels?</vt:lpstr>
      <vt:lpstr>Example: BioModels 57 </vt:lpstr>
      <vt:lpstr>Approximating BioModels With Multiple Jacobians</vt:lpstr>
      <vt:lpstr>Assessing Effect of Combining Subsystems</vt:lpstr>
      <vt:lpstr>BACKUP</vt:lpstr>
      <vt:lpstr>BioModels 38</vt:lpstr>
      <vt:lpstr>Example of Polylinear Model (BioM 309)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BIOE 437 / BIOE 537  Computational Systems Biology   Lecture 1: Introduction and Biochemistry Basics  </dc:title>
  <dc:creator>Tricia Caparas</dc:creator>
  <cp:lastModifiedBy>Joseph Hellerstein</cp:lastModifiedBy>
  <cp:revision>298</cp:revision>
  <dcterms:created xsi:type="dcterms:W3CDTF">2008-11-04T22:35:39Z</dcterms:created>
  <dcterms:modified xsi:type="dcterms:W3CDTF">2026-03-12T16:38:50Z</dcterms:modified>
</cp:coreProperties>
</file>