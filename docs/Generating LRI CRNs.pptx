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719"/>
  </p:normalViewPr>
  <p:slideViewPr>
    <p:cSldViewPr snapToGrid="0">
      <p:cViewPr>
        <p:scale>
          <a:sx n="100" d="100"/>
          <a:sy n="100" d="100"/>
        </p:scale>
        <p:origin x="848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0138-3760-2871-73F8-9D00809D8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BA048-1A05-9CE8-BD27-D58682EAA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DEE00-C797-2895-2DD9-7626E07B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5DC65-2151-06DE-9E12-07D0A86D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4A938-B0ED-5173-CBFD-4847CE8F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5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D7BD-ED64-2069-DE77-0D562DAF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6009F-A032-18C6-CDB1-CF8B9EE6C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F3FE4-BD1C-6AB0-EB83-49ABE9F9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1B5CB-CF85-B84F-AC7A-6DC750FF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A9DD6-53E2-0D79-1C95-0D4F2A76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49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07FB-A5FF-1C02-FCAB-5765D60E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85DAA-1C4A-DBE0-15E3-7920823C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53EA4-42A8-146A-E7DE-26804450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99DF2-975D-37CB-C2CC-C1E51112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AA96F-6B35-CB7C-843C-7F40AEEE2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4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FBE4-EE47-7A4A-AF32-82AAC034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C7E0D-AFA4-9AB1-9277-4D9CD70EC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F2B24-587F-CA8C-8C96-55F095897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0B80A-F2C9-30CF-A057-DEEEA923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F9FD5-54EC-395C-D1F4-EE48606B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7EF39-0F10-4E9B-E92C-6619D184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7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09FA-DC28-E9B4-19DF-BE8F65A1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F4D47-B402-4F3A-4B44-F0C8C386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BDE9B-80D3-0E24-2B56-9DD123F8C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B905F-45C0-33C4-7FCB-DD752DDBB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D09A4E-F30B-3CB4-6DC9-285500D99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1CB983-5517-B213-65E0-68E849C9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86BEF-7F9D-5A55-C2A7-F96B0BBB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E6FD8-0864-BCEA-E4FF-43CA147E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6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496F-391C-7DAF-F461-9DD416F1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67F1F-431D-BCC2-212D-320B2324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62C16-9C08-FB42-4DC9-E62B7455E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6C5F3-5E36-A05D-DC1D-13486C20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9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2B099-6D64-397E-D681-FBE9E4DB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0F7F4-1709-B8A4-617F-2B339773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6F1A1-F531-75C3-60D0-F30694FC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97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4663-3369-44DB-1EE1-019F14A04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F0233-AD54-722D-BFE6-8AADB4A07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CD895-7EEC-1789-43D1-A089FC6B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2F72F-28B5-C8BE-2253-460589B1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FE80D-E74F-826B-202D-C88A261F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560F-DB59-529D-B0C5-E1C4E575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3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DAD9-3403-9C1C-18AA-59FADBD4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D5AAD-4CA3-5C47-EBFD-72C644640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745FB-292B-E7B9-8028-8F8D497EB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9E55C-E86D-CE9F-9247-5C662544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0AE54-D7B8-0953-3309-4E477069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07190-4EA4-E808-CF27-6B98158A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2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00F5-2B44-4EBB-7508-E5D20EA5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BFF69-C2A4-5EB5-8993-FF0C338B7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16255-0A8E-AEBB-3226-69E003BC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1049F-85A9-6B59-1BF0-E7C9F914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92507-E0AF-025C-6076-C976D1FB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2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51CBE-80EE-5E75-B9CE-B2F86EB89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E641A-C82B-378E-3285-5DBFA9A55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E35CB-F387-D384-F85E-BD7FCFF9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7CF0C-34C4-2972-86B7-A49ABC24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CF17B-2A7E-DF01-7AAB-603427B4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72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B47D8A-CA45-32A0-43A4-493A7764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EDE0C-52BA-3FA7-357F-352E3B301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9293E-9B5D-16C5-54D6-629BBB8F4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3FED-EFBD-5C48-A8B8-573DB367BA7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6D4C-E280-6C0F-49F4-13758F1F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F87B0-D4C5-352B-674A-872CFFF17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E2B04-CC37-C84F-B302-6E3B56B01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0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AC95-8416-0CA8-BEAD-38BCA5BE3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Transfer Functions for LTI SBML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2A218-54DC-244E-3F7C-20EA7276A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Joe Hellerstein</a:t>
            </a:r>
          </a:p>
          <a:p>
            <a:r>
              <a:rPr lang="en-US" dirty="0"/>
              <a:t>Nov 19, 2025</a:t>
            </a:r>
          </a:p>
        </p:txBody>
      </p:sp>
    </p:spTree>
    <p:extLst>
      <p:ext uri="{BB962C8B-B14F-4D97-AF65-F5344CB8AC3E}">
        <p14:creationId xmlns:p14="http://schemas.microsoft.com/office/powerpoint/2010/main" val="2221259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9B9E-F608-83F9-05D1-2752C59A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Direction and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6B6E7-E3A4-CD3D-39C8-630A0CBA7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9600"/>
            <a:ext cx="10515600" cy="4140200"/>
          </a:xfrm>
        </p:spPr>
        <p:txBody>
          <a:bodyPr>
            <a:normAutofit/>
          </a:bodyPr>
          <a:lstStyle/>
          <a:p>
            <a:r>
              <a:rPr lang="en-US" dirty="0"/>
              <a:t>Research direction: Use transfer functions to assess impact of couplings between CRN “modules” </a:t>
            </a:r>
          </a:p>
          <a:p>
            <a:pPr lvl="2"/>
            <a:r>
              <a:rPr lang="en-US" dirty="0"/>
              <a:t>Coupling types: sequential, parallel, branch, join, feedback</a:t>
            </a:r>
          </a:p>
          <a:p>
            <a:r>
              <a:rPr lang="en-US" dirty="0"/>
              <a:t>Requirements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many examples of CRN that can be modeled as a Linear Time-Invariant (LTI) system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Calculate the transfer function for generated CRNs</a:t>
            </a:r>
          </a:p>
        </p:txBody>
      </p:sp>
    </p:spTree>
    <p:extLst>
      <p:ext uri="{BB962C8B-B14F-4D97-AF65-F5344CB8AC3E}">
        <p14:creationId xmlns:p14="http://schemas.microsoft.com/office/powerpoint/2010/main" val="207856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5085D92-5EE6-0352-0090-8444D575FAA9}"/>
              </a:ext>
            </a:extLst>
          </p:cNvPr>
          <p:cNvSpPr/>
          <p:nvPr/>
        </p:nvSpPr>
        <p:spPr>
          <a:xfrm>
            <a:off x="218968" y="1827322"/>
            <a:ext cx="3175448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60452-B813-9835-65A5-CC0AE0848272}"/>
              </a:ext>
            </a:extLst>
          </p:cNvPr>
          <p:cNvSpPr txBox="1"/>
          <p:nvPr/>
        </p:nvSpPr>
        <p:spPr>
          <a:xfrm>
            <a:off x="218967" y="1827322"/>
            <a:ext cx="3217547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-&gt; $S1       ;k1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S1 -&gt; 2 S2 + S3 ;k2*S1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S2 -&gt; S3        ;k3*S3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S2 -&gt;           ;k4*S2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S3 -&gt;           ;k5*S3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k1=1; k2=2; k3=3; k4=4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67282-4D1D-BB42-E751-3903C375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64" y="299122"/>
            <a:ext cx="10515600" cy="891720"/>
          </a:xfrm>
        </p:spPr>
        <p:txBody>
          <a:bodyPr>
            <a:normAutofit/>
          </a:bodyPr>
          <a:lstStyle/>
          <a:p>
            <a:r>
              <a:rPr lang="en-US" dirty="0"/>
              <a:t>Sufficient Condition for a LTI CRN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13C5-5702-E5A9-80A2-22697E96F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76" y="4116398"/>
            <a:ext cx="10515600" cy="12003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Sufficient conditions for LTI CRN:</a:t>
            </a:r>
          </a:p>
          <a:p>
            <a:r>
              <a:rPr lang="en-US" dirty="0"/>
              <a:t>Zero or 1 reactant (unit stoichiometry)</a:t>
            </a:r>
          </a:p>
          <a:p>
            <a:r>
              <a:rPr lang="en-US" dirty="0"/>
              <a:t>Mass action kinetics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A5DA33-187E-7DBE-91B0-3762228481EC}"/>
              </a:ext>
            </a:extLst>
          </p:cNvPr>
          <p:cNvSpPr txBox="1"/>
          <p:nvPr/>
        </p:nvSpPr>
        <p:spPr>
          <a:xfrm rot="16200000">
            <a:off x="8487224" y="2620186"/>
            <a:ext cx="5725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/>
              <a:t>{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BF9632-27BF-F2B7-AA6B-CBF3E1A5ACA9}"/>
                  </a:ext>
                </a:extLst>
              </p:cNvPr>
              <p:cNvSpPr txBox="1"/>
              <p:nvPr/>
            </p:nvSpPr>
            <p:spPr>
              <a:xfrm>
                <a:off x="8623300" y="3623955"/>
                <a:ext cx="3638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BF9632-27BF-F2B7-AA6B-CBF3E1A5A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300" y="3623955"/>
                <a:ext cx="363881" cy="492443"/>
              </a:xfrm>
              <a:prstGeom prst="rect">
                <a:avLst/>
              </a:prstGeom>
              <a:blipFill>
                <a:blip r:embed="rId2"/>
                <a:stretch>
                  <a:fillRect l="-24138" r="-24138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F099227-5EF3-BEA7-DE19-F5C0BA69EA70}"/>
              </a:ext>
            </a:extLst>
          </p:cNvPr>
          <p:cNvSpPr txBox="1"/>
          <p:nvPr/>
        </p:nvSpPr>
        <p:spPr>
          <a:xfrm>
            <a:off x="927100" y="1346200"/>
            <a:ext cx="177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Antimony model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1479EE2-1250-105A-CFDD-1C1B56DCF93E}"/>
              </a:ext>
            </a:extLst>
          </p:cNvPr>
          <p:cNvGrpSpPr/>
          <p:nvPr/>
        </p:nvGrpSpPr>
        <p:grpSpPr>
          <a:xfrm>
            <a:off x="3680745" y="1356354"/>
            <a:ext cx="2588914" cy="1893193"/>
            <a:chOff x="3680745" y="1356354"/>
            <a:chExt cx="2588914" cy="189319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33984E9-C5B2-F342-6DFC-DEE45CCA698F}"/>
                </a:ext>
              </a:extLst>
            </p:cNvPr>
            <p:cNvSpPr/>
            <p:nvPr/>
          </p:nvSpPr>
          <p:spPr>
            <a:xfrm>
              <a:off x="3735263" y="1782739"/>
              <a:ext cx="2487738" cy="14668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EF406C-C0CE-12BE-B3F8-53EE359EDBFD}"/>
                </a:ext>
              </a:extLst>
            </p:cNvPr>
            <p:cNvGrpSpPr/>
            <p:nvPr/>
          </p:nvGrpSpPr>
          <p:grpSpPr>
            <a:xfrm>
              <a:off x="3680745" y="1839829"/>
              <a:ext cx="2588914" cy="1066201"/>
              <a:chOff x="5029200" y="1450294"/>
              <a:chExt cx="2588914" cy="106620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A42201EB-6914-FE3C-52D4-50CD17FA3A66}"/>
                      </a:ext>
                    </a:extLst>
                  </p:cNvPr>
                  <p:cNvSpPr txBox="1"/>
                  <p:nvPr/>
                </p:nvSpPr>
                <p:spPr>
                  <a:xfrm>
                    <a:off x="5067300" y="1827322"/>
                    <a:ext cx="1929246" cy="2875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A42201EB-6914-FE3C-52D4-50CD17FA3A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7300" y="1827322"/>
                    <a:ext cx="1929246" cy="28751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t="-12500" r="-4575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A0433E4D-5F33-9C5D-F42A-7BB70D1CE727}"/>
                      </a:ext>
                    </a:extLst>
                  </p:cNvPr>
                  <p:cNvSpPr txBox="1"/>
                  <p:nvPr/>
                </p:nvSpPr>
                <p:spPr>
                  <a:xfrm>
                    <a:off x="5029200" y="2228980"/>
                    <a:ext cx="2588914" cy="2875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A0433E4D-5F33-9C5D-F42A-7BB70D1CE7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9200" y="2228980"/>
                    <a:ext cx="2588914" cy="28751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3043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BB0AF42-2C5C-7EAB-0538-5E53C81F5AB8}"/>
                      </a:ext>
                    </a:extLst>
                  </p:cNvPr>
                  <p:cNvSpPr txBox="1"/>
                  <p:nvPr/>
                </p:nvSpPr>
                <p:spPr>
                  <a:xfrm>
                    <a:off x="5082284" y="1450294"/>
                    <a:ext cx="1897635" cy="2875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BB0AF42-2C5C-7EAB-0538-5E53C81F5A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2284" y="1450294"/>
                    <a:ext cx="1897635" cy="28751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667" t="-8333" r="-667" b="-3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684F57-6D14-5B65-4186-B3E76775AC1D}"/>
                </a:ext>
              </a:extLst>
            </p:cNvPr>
            <p:cNvSpPr txBox="1"/>
            <p:nvPr/>
          </p:nvSpPr>
          <p:spPr>
            <a:xfrm>
              <a:off x="4199972" y="1356354"/>
              <a:ext cx="1257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ODE model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063AD0A-BFA5-F139-87C8-B7E800AF3E12}"/>
              </a:ext>
            </a:extLst>
          </p:cNvPr>
          <p:cNvGrpSpPr/>
          <p:nvPr/>
        </p:nvGrpSpPr>
        <p:grpSpPr>
          <a:xfrm>
            <a:off x="6417633" y="1381790"/>
            <a:ext cx="5287317" cy="1863447"/>
            <a:chOff x="6417633" y="1381790"/>
            <a:chExt cx="5287317" cy="186344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FC05EC6-980E-204A-0340-6353E67D4807}"/>
                </a:ext>
              </a:extLst>
            </p:cNvPr>
            <p:cNvSpPr/>
            <p:nvPr/>
          </p:nvSpPr>
          <p:spPr>
            <a:xfrm>
              <a:off x="6463821" y="1778429"/>
              <a:ext cx="5241129" cy="14668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B9BE36F-AEC6-3482-DBD2-1B9CAB1B8332}"/>
                </a:ext>
              </a:extLst>
            </p:cNvPr>
            <p:cNvGrpSpPr/>
            <p:nvPr/>
          </p:nvGrpSpPr>
          <p:grpSpPr>
            <a:xfrm>
              <a:off x="6417633" y="1993126"/>
              <a:ext cx="5273208" cy="984052"/>
              <a:chOff x="4088521" y="2906030"/>
              <a:chExt cx="5273208" cy="98405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7C1344D-7F17-FED0-0A7A-980C6E758D10}"/>
                      </a:ext>
                    </a:extLst>
                  </p:cNvPr>
                  <p:cNvSpPr txBox="1"/>
                  <p:nvPr/>
                </p:nvSpPr>
                <p:spPr>
                  <a:xfrm>
                    <a:off x="5132639" y="3002050"/>
                    <a:ext cx="2546145" cy="7923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7C1344D-7F17-FED0-0A7A-980C6E758D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2639" y="3002050"/>
                    <a:ext cx="2546145" cy="79233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95" t="-3125" b="-468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1546C6E-AFB5-DD03-E7F1-CCDA9D0DD262}"/>
                      </a:ext>
                    </a:extLst>
                  </p:cNvPr>
                  <p:cNvSpPr txBox="1"/>
                  <p:nvPr/>
                </p:nvSpPr>
                <p:spPr>
                  <a:xfrm>
                    <a:off x="8798819" y="3015099"/>
                    <a:ext cx="562910" cy="7659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1546C6E-AFB5-DD03-E7F1-CCDA9D0DD2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8819" y="3015099"/>
                    <a:ext cx="562910" cy="76591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D11533F1-2067-ABF1-C3E2-6E396E6C3616}"/>
                      </a:ext>
                    </a:extLst>
                  </p:cNvPr>
                  <p:cNvSpPr txBox="1"/>
                  <p:nvPr/>
                </p:nvSpPr>
                <p:spPr>
                  <a:xfrm>
                    <a:off x="7669147" y="2952197"/>
                    <a:ext cx="1115562" cy="89171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D11533F1-2067-ABF1-C3E2-6E396E6C36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9147" y="2952197"/>
                    <a:ext cx="1115562" cy="89171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3371" b="-70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454670A-39E5-8B6C-51CD-F7DC7242658B}"/>
                      </a:ext>
                    </a:extLst>
                  </p:cNvPr>
                  <p:cNvSpPr txBox="1"/>
                  <p:nvPr/>
                </p:nvSpPr>
                <p:spPr>
                  <a:xfrm>
                    <a:off x="4088521" y="2906030"/>
                    <a:ext cx="977460" cy="98405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454670A-39E5-8B6C-51CD-F7DC724265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8521" y="2906030"/>
                    <a:ext cx="977460" cy="98405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846" b="-126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26572A-3E5A-382D-4703-BD0039485687}"/>
                </a:ext>
              </a:extLst>
            </p:cNvPr>
            <p:cNvSpPr txBox="1"/>
            <p:nvPr/>
          </p:nvSpPr>
          <p:spPr>
            <a:xfrm>
              <a:off x="8360187" y="1381790"/>
              <a:ext cx="1922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Laplace Transform</a:t>
              </a:r>
            </a:p>
          </p:txBody>
        </p:sp>
      </p:grp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5730CBA-0AAF-6D5C-A86D-4D43B1A5E192}"/>
              </a:ext>
            </a:extLst>
          </p:cNvPr>
          <p:cNvSpPr txBox="1">
            <a:spLocks/>
          </p:cNvSpPr>
          <p:nvPr/>
        </p:nvSpPr>
        <p:spPr>
          <a:xfrm>
            <a:off x="292976" y="5656024"/>
            <a:ext cx="10515600" cy="74086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/>
              <a:t>A</a:t>
            </a:r>
            <a:r>
              <a:rPr lang="en-US" dirty="0"/>
              <a:t> matrix is the Jacobian.</a:t>
            </a:r>
          </a:p>
          <a:p>
            <a:pPr marL="0" indent="0">
              <a:buNone/>
            </a:pPr>
            <a:r>
              <a:rPr lang="en-US" b="1" i="1" dirty="0"/>
              <a:t>A</a:t>
            </a:r>
            <a:r>
              <a:rPr lang="en-US" dirty="0"/>
              <a:t> matrix is constant for an LTI system.</a:t>
            </a:r>
          </a:p>
        </p:txBody>
      </p:sp>
    </p:spTree>
    <p:extLst>
      <p:ext uri="{BB962C8B-B14F-4D97-AF65-F5344CB8AC3E}">
        <p14:creationId xmlns:p14="http://schemas.microsoft.com/office/powerpoint/2010/main" val="313476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/>
      <p:bldP spid="21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545A-4524-828D-6AC3-04DC46925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Jacobian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FBEB-AD3B-6AFE-A2EF-95A6761EA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5775"/>
          </a:xfrm>
        </p:spPr>
        <p:txBody>
          <a:bodyPr/>
          <a:lstStyle/>
          <a:p>
            <a:r>
              <a:rPr lang="en-US" dirty="0"/>
              <a:t>To calculate transfer functions, we need the Jacobian with symbolic constants.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Tellurium/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libsbml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provide a numeric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/>
              <a:t>) Jacobian.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0B99AD-650A-B9CD-3C9C-DADAE2C21BCC}"/>
              </a:ext>
            </a:extLst>
          </p:cNvPr>
          <p:cNvSpPr txBox="1">
            <a:spLocks/>
          </p:cNvSpPr>
          <p:nvPr/>
        </p:nvSpPr>
        <p:spPr>
          <a:xfrm>
            <a:off x="749106" y="4443043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 obtain the symbolic Jacobian using a combination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Tellurium/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libsbml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sympy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92E6B8-B26D-15B8-3CBB-DAF0FD8743B9}"/>
                  </a:ext>
                </a:extLst>
              </p:cNvPr>
              <p:cNvSpPr txBox="1"/>
              <p:nvPr/>
            </p:nvSpPr>
            <p:spPr>
              <a:xfrm>
                <a:off x="1451493" y="3350050"/>
                <a:ext cx="1353768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92E6B8-B26D-15B8-3CBB-DAF0FD874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493" y="3350050"/>
                <a:ext cx="1353768" cy="732573"/>
              </a:xfrm>
              <a:prstGeom prst="rect">
                <a:avLst/>
              </a:prstGeom>
              <a:blipFill>
                <a:blip r:embed="rId2"/>
                <a:stretch>
                  <a:fillRect t="-1724"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692F177-152B-1067-DE4C-29E4C748CB01}"/>
              </a:ext>
            </a:extLst>
          </p:cNvPr>
          <p:cNvSpPr/>
          <p:nvPr/>
        </p:nvSpPr>
        <p:spPr>
          <a:xfrm>
            <a:off x="8712200" y="230188"/>
            <a:ext cx="381000" cy="859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CDB702-D60C-4462-B1A4-56D96A679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800" y="272245"/>
            <a:ext cx="1530350" cy="138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1975-C901-726A-E534-CB1D4C78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43B6-A32C-1890-7880-31F883E7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Transfer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E68973-F318-1893-20D3-88CDDD4AE8A8}"/>
                  </a:ext>
                </a:extLst>
              </p:cNvPr>
              <p:cNvSpPr txBox="1"/>
              <p:nvPr/>
            </p:nvSpPr>
            <p:spPr>
              <a:xfrm>
                <a:off x="7799015" y="2243486"/>
                <a:ext cx="26398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𝑩𝒖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E68973-F318-1893-20D3-88CDDD4AE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015" y="2243486"/>
                <a:ext cx="2639890" cy="307777"/>
              </a:xfrm>
              <a:prstGeom prst="rect">
                <a:avLst/>
              </a:prstGeom>
              <a:blipFill>
                <a:blip r:embed="rId2"/>
                <a:stretch>
                  <a:fillRect l="-478" r="-3349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B5EECE3-D4A8-12A5-34F5-96F8CEE34C27}"/>
              </a:ext>
            </a:extLst>
          </p:cNvPr>
          <p:cNvSpPr txBox="1"/>
          <p:nvPr/>
        </p:nvSpPr>
        <p:spPr>
          <a:xfrm>
            <a:off x="8128000" y="1690688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General expression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5D440A-830B-0477-89C6-437FFD3D4CB5}"/>
                  </a:ext>
                </a:extLst>
              </p:cNvPr>
              <p:cNvSpPr txBox="1"/>
              <p:nvPr/>
            </p:nvSpPr>
            <p:spPr>
              <a:xfrm>
                <a:off x="382314" y="3619500"/>
                <a:ext cx="27392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𝑩𝒖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5D440A-830B-0477-89C6-437FFD3D4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14" y="3619500"/>
                <a:ext cx="2739211" cy="307777"/>
              </a:xfrm>
              <a:prstGeom prst="rect">
                <a:avLst/>
              </a:prstGeom>
              <a:blipFill>
                <a:blip r:embed="rId3"/>
                <a:stretch>
                  <a:fillRect l="-926" r="-277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4FD414-6012-9D1C-8D4A-E095434D59AE}"/>
                  </a:ext>
                </a:extLst>
              </p:cNvPr>
              <p:cNvSpPr txBox="1"/>
              <p:nvPr/>
            </p:nvSpPr>
            <p:spPr>
              <a:xfrm>
                <a:off x="382313" y="4074466"/>
                <a:ext cx="46130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000" dirty="0"/>
                  <a:t> is the Laplace Transform for species </a:t>
                </a:r>
                <a:r>
                  <a:rPr lang="en-US" sz="2000" i="1" dirty="0"/>
                  <a:t>n.</a:t>
                </a:r>
                <a:endParaRPr lang="en-US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4FD414-6012-9D1C-8D4A-E095434D5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13" y="4074466"/>
                <a:ext cx="4613058" cy="307777"/>
              </a:xfrm>
              <a:prstGeom prst="rect">
                <a:avLst/>
              </a:prstGeom>
              <a:blipFill>
                <a:blip r:embed="rId4"/>
                <a:stretch>
                  <a:fillRect l="-1648" t="-23077" r="-2473" b="-4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0964A4-C043-46FF-5875-90D4F91FA958}"/>
                  </a:ext>
                </a:extLst>
              </p:cNvPr>
              <p:cNvSpPr txBox="1"/>
              <p:nvPr/>
            </p:nvSpPr>
            <p:spPr>
              <a:xfrm>
                <a:off x="382313" y="4529432"/>
                <a:ext cx="8240987" cy="530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  <m:sub/>
                    </m:sSub>
                  </m:oMath>
                </a14:m>
                <a:r>
                  <a:rPr lang="en-US" sz="2000" dirty="0"/>
                  <a:t> is the Laplace Transform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i="1" dirty="0"/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0964A4-C043-46FF-5875-90D4F91FA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13" y="4529432"/>
                <a:ext cx="8240987" cy="530402"/>
              </a:xfrm>
              <a:prstGeom prst="rect">
                <a:avLst/>
              </a:prstGeom>
              <a:blipFill>
                <a:blip r:embed="rId5"/>
                <a:stretch>
                  <a:fillRect l="-1077" t="-2326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62E7FE-D887-6B9D-0EE7-67E8BF52463B}"/>
                  </a:ext>
                </a:extLst>
              </p:cNvPr>
              <p:cNvSpPr txBox="1"/>
              <p:nvPr/>
            </p:nvSpPr>
            <p:spPr>
              <a:xfrm>
                <a:off x="272507" y="5292546"/>
                <a:ext cx="641393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Approach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Named input is the only boundary (e.g.,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S1</a:t>
                </a:r>
                <a:r>
                  <a:rPr lang="en-US" sz="20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, impulse response</a:t>
                </a:r>
              </a:p>
              <a:p>
                <a:r>
                  <a:rPr lang="en-US" sz="2000" dirty="0"/>
                  <a:t>Means </a:t>
                </a:r>
                <a:r>
                  <a:rPr lang="en-US" sz="2000" b="1" dirty="0"/>
                  <a:t>that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𝐬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/>
                  <a:t> is the transfer function from 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S1 </a:t>
                </a:r>
                <a:r>
                  <a:rPr lang="en-US" sz="2000" b="1" dirty="0"/>
                  <a:t>to 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Sn</a:t>
                </a:r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62E7FE-D887-6B9D-0EE7-67E8BF524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07" y="5292546"/>
                <a:ext cx="6413935" cy="1323439"/>
              </a:xfrm>
              <a:prstGeom prst="rect">
                <a:avLst/>
              </a:prstGeom>
              <a:blipFill>
                <a:blip r:embed="rId6"/>
                <a:stretch>
                  <a:fillRect l="-988" t="-1905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0C41D7E4-0C58-EE71-EF9D-3729F2B52E39}"/>
              </a:ext>
            </a:extLst>
          </p:cNvPr>
          <p:cNvGrpSpPr/>
          <p:nvPr/>
        </p:nvGrpSpPr>
        <p:grpSpPr>
          <a:xfrm>
            <a:off x="6768284" y="3128225"/>
            <a:ext cx="5041402" cy="2433082"/>
            <a:chOff x="6768284" y="3128225"/>
            <a:chExt cx="5041402" cy="243308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191DD5E-D9C9-55E8-0441-089F9683B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23436" y="3497557"/>
              <a:ext cx="4286250" cy="206375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1425D66-768E-2661-CE2D-B4B91D1E9807}"/>
                    </a:ext>
                  </a:extLst>
                </p:cNvPr>
                <p:cNvSpPr txBox="1"/>
                <p:nvPr/>
              </p:nvSpPr>
              <p:spPr>
                <a:xfrm>
                  <a:off x="6768284" y="4261989"/>
                  <a:ext cx="919291" cy="5204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1425D66-768E-2661-CE2D-B4B91D1E9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284" y="4261989"/>
                  <a:ext cx="919291" cy="520463"/>
                </a:xfrm>
                <a:prstGeom prst="rect">
                  <a:avLst/>
                </a:prstGeom>
                <a:blipFill>
                  <a:blip r:embed="rId8"/>
                  <a:stretch>
                    <a:fillRect l="-2703" t="-4762" r="-5405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9CC97D-36CA-3A6E-E150-5C3DAF85077E}"/>
                </a:ext>
              </a:extLst>
            </p:cNvPr>
            <p:cNvSpPr txBox="1"/>
            <p:nvPr/>
          </p:nvSpPr>
          <p:spPr>
            <a:xfrm>
              <a:off x="8128000" y="3128225"/>
              <a:ext cx="2171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Solution for example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DBE990-0D62-75BB-3A79-D2BEE927A988}"/>
              </a:ext>
            </a:extLst>
          </p:cNvPr>
          <p:cNvGrpSpPr/>
          <p:nvPr/>
        </p:nvGrpSpPr>
        <p:grpSpPr>
          <a:xfrm>
            <a:off x="477866" y="1528384"/>
            <a:ext cx="5287317" cy="1863447"/>
            <a:chOff x="6417633" y="1381790"/>
            <a:chExt cx="5287317" cy="186344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D25EDB0-0A90-3D03-07AB-48AF5844AE08}"/>
                </a:ext>
              </a:extLst>
            </p:cNvPr>
            <p:cNvSpPr/>
            <p:nvPr/>
          </p:nvSpPr>
          <p:spPr>
            <a:xfrm>
              <a:off x="6463821" y="1778429"/>
              <a:ext cx="5241129" cy="14668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56A4C12-61E4-7AAD-219D-FAD0FF813E20}"/>
                </a:ext>
              </a:extLst>
            </p:cNvPr>
            <p:cNvGrpSpPr/>
            <p:nvPr/>
          </p:nvGrpSpPr>
          <p:grpSpPr>
            <a:xfrm>
              <a:off x="6417633" y="1993126"/>
              <a:ext cx="5273208" cy="984052"/>
              <a:chOff x="4088521" y="2906030"/>
              <a:chExt cx="5273208" cy="98405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E152075-AF20-1063-A2C3-9E515D67178D}"/>
                      </a:ext>
                    </a:extLst>
                  </p:cNvPr>
                  <p:cNvSpPr txBox="1"/>
                  <p:nvPr/>
                </p:nvSpPr>
                <p:spPr>
                  <a:xfrm>
                    <a:off x="5132639" y="3002050"/>
                    <a:ext cx="2546145" cy="7923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E152075-AF20-1063-A2C3-9E515D6717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2639" y="3002050"/>
                    <a:ext cx="2546145" cy="79233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995" t="-4762" b="-47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41A13782-90F9-F5D8-2C03-3A36C7DE3974}"/>
                      </a:ext>
                    </a:extLst>
                  </p:cNvPr>
                  <p:cNvSpPr txBox="1"/>
                  <p:nvPr/>
                </p:nvSpPr>
                <p:spPr>
                  <a:xfrm>
                    <a:off x="8798819" y="3015099"/>
                    <a:ext cx="562910" cy="7659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41A13782-90F9-F5D8-2C03-3A36C7DE39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8819" y="3015099"/>
                    <a:ext cx="562910" cy="76591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1639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F5E3712-395A-4232-98AD-F60CE7FF7518}"/>
                      </a:ext>
                    </a:extLst>
                  </p:cNvPr>
                  <p:cNvSpPr txBox="1"/>
                  <p:nvPr/>
                </p:nvSpPr>
                <p:spPr>
                  <a:xfrm>
                    <a:off x="7669147" y="2952197"/>
                    <a:ext cx="1115562" cy="89171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F5E3712-395A-4232-98AD-F60CE7FF75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9147" y="2952197"/>
                    <a:ext cx="1115562" cy="89171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371" b="-70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CA7A7946-1F2E-0438-0B70-5FD6BCFBE18D}"/>
                      </a:ext>
                    </a:extLst>
                  </p:cNvPr>
                  <p:cNvSpPr txBox="1"/>
                  <p:nvPr/>
                </p:nvSpPr>
                <p:spPr>
                  <a:xfrm>
                    <a:off x="4088521" y="2906030"/>
                    <a:ext cx="977460" cy="98405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CA7A7946-1F2E-0438-0B70-5FD6BCFBE1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8521" y="2906030"/>
                    <a:ext cx="977460" cy="98405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3846" b="-25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FFF4DBC-DB95-B048-190F-E57CBC8AE512}"/>
                </a:ext>
              </a:extLst>
            </p:cNvPr>
            <p:cNvSpPr txBox="1"/>
            <p:nvPr/>
          </p:nvSpPr>
          <p:spPr>
            <a:xfrm>
              <a:off x="8360187" y="1381790"/>
              <a:ext cx="1922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Laplace Transform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965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6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328</Words>
  <Application>Microsoft Macintosh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Courier New</vt:lpstr>
      <vt:lpstr>Office Theme</vt:lpstr>
      <vt:lpstr>Transfer Functions for LTI SBML Models</vt:lpstr>
      <vt:lpstr>Research Direction and Requirements</vt:lpstr>
      <vt:lpstr>Sufficient Condition for a LTI CRN</vt:lpstr>
      <vt:lpstr>Symbolic Jacobian Matrix</vt:lpstr>
      <vt:lpstr>Calculating Transfer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Hellerstein</dc:creator>
  <cp:lastModifiedBy>Joseph Hellerstein</cp:lastModifiedBy>
  <cp:revision>48</cp:revision>
  <dcterms:created xsi:type="dcterms:W3CDTF">2025-11-19T16:08:06Z</dcterms:created>
  <dcterms:modified xsi:type="dcterms:W3CDTF">2025-11-19T22:03:39Z</dcterms:modified>
</cp:coreProperties>
</file>